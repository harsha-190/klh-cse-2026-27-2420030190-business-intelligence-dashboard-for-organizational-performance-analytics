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19"/>
    <p:sldId id="269" r:id="rId20"/>
    <p:sldId id="270" r:id="rId21"/>
    <p:sldId id="271" r:id="rId22"/>
    <p:sldId id="272" r:id="rId23"/>
    <p:sldId id="262" r:id="rId8"/>
    <p:sldId id="263" r:id="rId9"/>
    <p:sldId id="264" r:id="rId10"/>
    <p:sldId id="265" r:id="rId11"/>
    <p:sldId id="266" r:id="rId12"/>
    <p:sldId id="267" r:id="rId1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2.xml"/><Relationship Id="rId9" Type="http://schemas.openxmlformats.org/officeDocument/2006/relationships/slide" Target="slides/slide13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105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 Project • Review-2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BI Dashboard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bi-dashboard-05-dav-project.vercel.app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bi-dashboard-05-dav-project.vercel.app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83880" y="-548640"/>
            <a:ext cx="4389120" cy="4389120"/>
          </a:xfrm>
          <a:prstGeom prst="arc">
            <a:avLst/>
          </a:prstGeom>
          <a:noFill/>
          <a:ln w="12700">
            <a:solidFill>
              <a:srgbClr val="29C7D6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732520" y="457200"/>
            <a:ext cx="3383280" cy="3383280"/>
          </a:xfrm>
          <a:prstGeom prst="arc">
            <a:avLst/>
          </a:prstGeom>
          <a:noFill/>
          <a:ln w="12700">
            <a:solidFill>
              <a:srgbClr val="0FA3B1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69480" y="2743200"/>
            <a:ext cx="4754880" cy="4754880"/>
          </a:xfrm>
          <a:prstGeom prst="arc">
            <a:avLst/>
          </a:prstGeom>
          <a:noFill/>
          <a:ln w="12700">
            <a:solidFill>
              <a:srgbClr val="7357B8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566928"/>
            <a:ext cx="2697480" cy="256032"/>
          </a:xfrm>
          <a:prstGeom prst="roundRect">
            <a:avLst>
              <a:gd name="adj" fmla="val 2857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94944" y="598932"/>
            <a:ext cx="2587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ANALYTICS &amp; VISUALIZATION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Enterprise Business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Intelligence Dashboard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Project Review – Research Upgrade</a:t>
            </a:r>
          </a:p>
        </p:txBody>
      </p:sp>
      <p:sp>
        <p:nvSpPr>
          <p:cNvPr id="10" name="Text 8"/>
          <p:cNvSpPr/>
          <p:nvPr/>
        </p:nvSpPr>
        <p:spPr>
          <a:xfrm>
            <a:off x="658368" y="32735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Implementation • Novel Hybrid Method • Results &amp; Evidence</a:t>
            </a:r>
          </a:p>
        </p:txBody>
      </p:sp>
      <p:sp>
        <p:nvSpPr>
          <p:cNvPr id="11" name="Text 9"/>
          <p:cNvSpPr/>
          <p:nvPr/>
        </p:nvSpPr>
        <p:spPr>
          <a:xfrm>
            <a:off x="658368" y="41605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Yennam Sesank Reddy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Department of Computer Science and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KLH Hyderabad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09560" y="3794760"/>
            <a:ext cx="3474720" cy="1417320"/>
          </a:xfrm>
          <a:prstGeom prst="roundRect">
            <a:avLst>
              <a:gd name="adj" fmla="val 9032"/>
            </a:avLst>
          </a:prstGeom>
          <a:solidFill>
            <a:srgbClr val="122A4B"/>
          </a:solidFill>
          <a:ln w="12700">
            <a:solidFill>
              <a:srgbClr val="24486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83880" y="4041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B6CF"/>
                </a:solidFill>
              </a:rPr>
              <a:t>LIVE PROJECT 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66176" y="44074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BI Dashboard</a:t>
            </a:r>
            <a:endParaRPr lang="en-US" sz="2300" dirty="0"/>
          </a:p>
        </p:txBody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8183880" y="49560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u="sng" dirty="0">
                <a:solidFill>
                  <a:srgbClr val="29C7D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bi-dashboard-05-dav-project.vercel.app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58368" y="596188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A4BD"/>
                </a:solidFill>
              </a:rPr>
              <a:t>Review focus: show the implemented system, prove that it runs, and explain the analytical output.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Review-2 Scope &amp; Project Goal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084"/>
                </a:solidFill>
              </a:rPr>
              <a:t>The review is evaluated on implementation, execution/functionality, and results obtained with analysis.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387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087368" y="126187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2232" y="129387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 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589520" y="126187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44384" y="129387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 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673352"/>
            <a:ext cx="3063240" cy="425196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87368" y="1673352"/>
            <a:ext cx="3063240" cy="425196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1673352"/>
            <a:ext cx="3977640" cy="425196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93852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Project Implementation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2423160"/>
            <a:ext cx="2487168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End-to-end BI dashboard artifact implemented as a web application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Data-to-visualization flow designed for organizational performance analysis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Reusable KPI, filter, comparison and reporting structure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Deployed project output available for live demonstration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15968" y="19385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Execution &amp; Functionality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15968" y="2423160"/>
            <a:ext cx="2487168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Dashboard loads as a working interface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Interactive views are organized around KPIs and charts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Filters and analytical navigation are part of the workflow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User can move from summary to detailed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45552" y="193852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Results &amp; Analysis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45552" y="2423160"/>
            <a:ext cx="315468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Visual outputs convert raw records into decision-ready summaries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Trend and comparison views reveal changes across dimensions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Results are interpreted through KPI context, not chart appearance alone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Performance and quality gaps are identified for next iteration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61447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7084"/>
                </a:solidFill>
              </a:rPr>
              <a:t>Core project question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48840" y="61081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437"/>
                </a:solidFill>
              </a:rPr>
              <a:t>How can organizational data be transformed into an interactive, reliable and interpretable BI dashboard for practical decision support?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Project Implementation – End-to-End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084"/>
                </a:solidFill>
              </a:rPr>
              <a:t>The implementation separates data handling, analytics logic, visualization and user interaction so each layer can be tested independently.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SOURCES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4672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9F3FA"/>
                </a:solidFill>
              </a:rPr>
              <a:t>Structured records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9F3FA"/>
                </a:solidFill>
              </a:rPr>
              <a:t>CSV / DB / APIs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2523744"/>
            <a:ext cx="438912" cy="475488"/>
          </a:xfrm>
          <a:prstGeom prst="chevron">
            <a:avLst/>
          </a:prstGeom>
          <a:solidFill>
            <a:srgbClr val="B5C8D9"/>
          </a:solidFill>
          <a:ln w="12700">
            <a:solidFill>
              <a:srgbClr val="B5C8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21466C"/>
          </a:solidFill>
          <a:ln w="12700">
            <a:solidFill>
              <a:srgbClr val="2146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PREPROCESSING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26664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9F3FA"/>
                </a:solidFill>
              </a:rPr>
              <a:t>Validation • cleaning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9F3FA"/>
                </a:solidFill>
              </a:rPr>
              <a:t>transformations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82312" y="2523744"/>
            <a:ext cx="438912" cy="475488"/>
          </a:xfrm>
          <a:prstGeom prst="chevron">
            <a:avLst/>
          </a:prstGeom>
          <a:solidFill>
            <a:srgbClr val="B5C8D9"/>
          </a:solidFill>
          <a:ln w="12700">
            <a:solidFill>
              <a:srgbClr val="B5C8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166D78"/>
          </a:solidFill>
          <a:ln w="12700">
            <a:solidFill>
              <a:srgbClr val="166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ANALYTICAL LAYER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48656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9F3FA"/>
                </a:solidFill>
              </a:rPr>
              <a:t>Dimensions • measures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9F3FA"/>
                </a:solidFill>
              </a:rPr>
              <a:t>KPI logic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04304" y="2523744"/>
            <a:ext cx="438912" cy="475488"/>
          </a:xfrm>
          <a:prstGeom prst="chevron">
            <a:avLst/>
          </a:prstGeom>
          <a:solidFill>
            <a:srgbClr val="B5C8D9"/>
          </a:solidFill>
          <a:ln w="12700">
            <a:solidFill>
              <a:srgbClr val="B5C8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51776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0C8A91"/>
          </a:solidFill>
          <a:ln w="12700">
            <a:solidFill>
              <a:srgbClr val="0C8A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1504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BI DASHBOARD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70648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9F3FA"/>
                </a:solidFill>
              </a:rPr>
              <a:t>KPI cards • charts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9F3FA"/>
                </a:solidFill>
              </a:rPr>
              <a:t>filters • detail views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26296" y="2523744"/>
            <a:ext cx="438912" cy="475488"/>
          </a:xfrm>
          <a:prstGeom prst="chevron">
            <a:avLst/>
          </a:prstGeom>
          <a:solidFill>
            <a:srgbClr val="B5C8D9"/>
          </a:solidFill>
          <a:ln w="12700">
            <a:solidFill>
              <a:srgbClr val="B5C8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73768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5C4B9B"/>
          </a:solidFill>
          <a:ln w="12700">
            <a:solidFill>
              <a:srgbClr val="5C4B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83496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DECISION SUPPORT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92640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9F3FA"/>
                </a:solidFill>
              </a:rPr>
              <a:t>Compare • diagnose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9F3FA"/>
                </a:solidFill>
              </a:rPr>
              <a:t>report • act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" y="4251960"/>
            <a:ext cx="101955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43584" y="4517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B1"/>
                </a:solidFill>
              </a:rPr>
              <a:t>Implementation principle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44368" y="442569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82437"/>
                </a:solidFill>
              </a:rPr>
              <a:t>Business definitions are centralized: the same KPI should return the same value across cards, charts, tables and exports for the same filter context.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51560" y="56967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27084"/>
                </a:solidFill>
              </a:rPr>
              <a:t>Review-2 evidence: architecture demonstrates how the project moves from implementation to an observable dashboard output.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Project Implementation – Major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084"/>
                </a:solidFill>
              </a:rPr>
              <a:t>The dashboard is presented as a set of focused modules, each responsible for one part of the analytics workflow.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55064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7647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Data Ingestion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Load structured records and retain source context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655064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7647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78040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Data Validation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Check completeness, validity, duplicates and consistency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" y="3072384"/>
            <a:ext cx="566928" cy="566928"/>
          </a:xfrm>
          <a:prstGeom prst="ellipse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1821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3008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KPI Engine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32735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Calculate growth, achievement and performance measures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3072384"/>
            <a:ext cx="566928" cy="566928"/>
          </a:xfrm>
          <a:prstGeom prst="ellipse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1821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8040" y="3008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Visualization Layer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2735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Convert measures into charts, tables and trend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425196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" y="4489704"/>
            <a:ext cx="566928" cy="5669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45994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44256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Interaction Layer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54480" y="46908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Filters, selections, comparisons and drill-down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425196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3952" y="4489704"/>
            <a:ext cx="566928" cy="5669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45994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78040" y="44256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Reporting Layer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78040" y="46908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Summarize the current analytical state for review/export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27084"/>
                </a:solidFill>
              </a:rPr>
              <a:t>Implementation outcome: modularity makes the system easier to validate, debug and extend with forecasting or anomaly analysis later.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Implementation Details – Tools, Technologies &amp; Engineering Practices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084"/>
                </a:solidFill>
              </a:rPr>
              <a:t>Technology choices are presented at the role level so the review focuses on what each technology contributes to the dashboard.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2560320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8562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WEB APPLICATION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437"/>
                </a:solidFill>
              </a:rPr>
              <a:t>Frontend 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82437"/>
                </a:solidFill>
              </a:rPr>
              <a:t>Responsive layout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82437"/>
                </a:solidFill>
              </a:rPr>
              <a:t>Component-based 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600200"/>
            <a:ext cx="2560320" cy="10058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18562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DATA &amp; LOGIC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437"/>
                </a:solidFill>
              </a:rPr>
              <a:t>Data ingestion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82437"/>
                </a:solidFill>
              </a:rPr>
              <a:t>Cleaning &amp; validation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82437"/>
                </a:solidFill>
              </a:rPr>
              <a:t>KPI/business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600200"/>
            <a:ext cx="2560320" cy="100584"/>
          </a:xfrm>
          <a:prstGeom prst="rect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18562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VISUAL ANALYTICS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437"/>
                </a:solidFill>
              </a:rPr>
              <a:t>Interactive charts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82437"/>
                </a:solidFill>
              </a:rPr>
              <a:t>Tables &amp; comparisons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82437"/>
                </a:solidFill>
              </a:rPr>
              <a:t>Trend representations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35440" y="160020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1600200"/>
            <a:ext cx="2560320" cy="100584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81744" y="18562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437"/>
                </a:solidFill>
              </a:rPr>
              <a:t>Cloud deployment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82437"/>
                </a:solidFill>
              </a:rPr>
              <a:t>HTTPS endpoint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82437"/>
                </a:solidFill>
              </a:rPr>
              <a:t>Live project URL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822192"/>
            <a:ext cx="10954512" cy="1499616"/>
          </a:xfrm>
          <a:prstGeom prst="roundRect">
            <a:avLst>
              <a:gd name="adj" fmla="val 853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0965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C7D6"/>
                </a:solidFill>
              </a:rPr>
              <a:t>Engineering practices emphasized in Review-2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416552"/>
            <a:ext cx="100126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</a:rPr>
              <a:t>Centralize KPI definitions to avoid inconsistent calculations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</a:rPr>
              <a:t>Keep large-data processing off the browser where possible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</a:rPr>
              <a:t>Use loading, empty-state and error-state handling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</a:rPr>
              <a:t>Measure web performance before making optimization claims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" y="5806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7084"/>
                </a:solidFill>
              </a:rPr>
              <a:t>Deployment endpoint</a:t>
            </a:r>
            <a:endParaRPr lang="en-US" sz="900" dirty="0"/>
          </a:p>
        </p:txBody>
      </p:sp>
      <p:sp>
        <p:nvSpPr>
          <p:cNvPr id="24" name="Text 22">
            <a:hlinkClick r:id="rId1" tooltip=""/>
          </p:cNvPr>
          <p:cNvSpPr/>
          <p:nvPr/>
        </p:nvSpPr>
        <p:spPr>
          <a:xfrm>
            <a:off x="1920240" y="57698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FA3B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https://bi-dashboard-05-dav-project.vercel.app/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Execution Output – BI Dashboard Interface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084"/>
                </a:solidFill>
              </a:rPr>
              <a:t>Editable recreation of the dashboard output for the review presentation. The live deployment can be opened during the demo.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11045952" cy="4983480"/>
          </a:xfrm>
          <a:prstGeom prst="roundRect">
            <a:avLst>
              <a:gd name="adj" fmla="val 2569"/>
            </a:avLst>
          </a:prstGeom>
          <a:solidFill>
            <a:srgbClr val="EEF3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34440"/>
            <a:ext cx="1847088" cy="4983480"/>
          </a:xfrm>
          <a:prstGeom prst="rect">
            <a:avLst/>
          </a:prstGeom>
          <a:solidFill>
            <a:srgbClr val="0E2747"/>
          </a:solidFill>
          <a:ln w="12700">
            <a:solidFill>
              <a:srgbClr val="0E27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BI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DASHBOARD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58952" y="2450592"/>
            <a:ext cx="1444752" cy="356616"/>
          </a:xfrm>
          <a:prstGeom prst="roundRect">
            <a:avLst>
              <a:gd name="adj" fmla="val 12821"/>
            </a:avLst>
          </a:prstGeom>
          <a:solidFill>
            <a:srgbClr val="16476A"/>
          </a:solidFill>
          <a:ln w="12700">
            <a:solidFill>
              <a:srgbClr val="1647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871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C7D6"/>
                </a:solidFill>
              </a:rPr>
              <a:t>Overview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EF"/>
                </a:solidFill>
              </a:rPr>
              <a:t>Performance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511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EF"/>
                </a:solidFill>
              </a:rPr>
              <a:t>Departments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EF"/>
                </a:solidFill>
              </a:rPr>
              <a:t>Employees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45354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EF"/>
                </a:solidFill>
              </a:rPr>
              <a:t>Analytics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50474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EF"/>
                </a:solidFill>
              </a:rPr>
              <a:t>Reports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79192" y="1481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Organizational Performance Overview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0104120" y="1463040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58984" y="14950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2026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844784" y="1463040"/>
            <a:ext cx="612648" cy="256032"/>
          </a:xfrm>
          <a:prstGeom prst="roundRect">
            <a:avLst>
              <a:gd name="adj" fmla="val 2857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99648" y="14950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ALL DEPARTMENTS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33472" y="1874520"/>
            <a:ext cx="1956816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33472" y="1874520"/>
            <a:ext cx="64008" cy="9601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98064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27084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98064" y="2231136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₹ —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2798064" y="25511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B57"/>
                </a:solidFill>
              </a:rPr>
              <a:t>Current view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0016" y="1874520"/>
            <a:ext cx="1956816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0016" y="1874520"/>
            <a:ext cx="64008" cy="960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27084"/>
                </a:solidFill>
              </a:rPr>
              <a:t>TARGET ACHIEVEMENT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64608" y="2231136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— %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4864608" y="25511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B57"/>
                </a:solidFill>
              </a:rPr>
              <a:t>Filter aware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66560" y="1874520"/>
            <a:ext cx="1956816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1874520"/>
            <a:ext cx="64008" cy="960120"/>
          </a:xfrm>
          <a:prstGeom prst="rect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1152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27084"/>
                </a:solidFill>
              </a:rPr>
              <a:t>PERFORMANCE SCORE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31152" y="2231136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—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6931152" y="25511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B57"/>
                </a:solidFill>
              </a:rPr>
              <a:t>Normalized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833104" y="1874520"/>
            <a:ext cx="1956816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33104" y="1874520"/>
            <a:ext cx="64008" cy="96012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97696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27084"/>
                </a:solidFill>
              </a:rPr>
              <a:t>DATA COMPLETENESS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997696" y="2231136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— %</a:t>
            </a:r>
            <a:endParaRPr lang="en-US" sz="2300" dirty="0"/>
          </a:p>
        </p:txBody>
      </p:sp>
      <p:sp>
        <p:nvSpPr>
          <p:cNvPr id="38" name="Text 36"/>
          <p:cNvSpPr/>
          <p:nvPr/>
        </p:nvSpPr>
        <p:spPr>
          <a:xfrm>
            <a:off x="8997696" y="25511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B57"/>
                </a:solidFill>
              </a:rPr>
              <a:t>Validated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33472" y="3044952"/>
            <a:ext cx="48463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62072" y="3255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Performance Trend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2862072" y="3529584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27084"/>
                </a:solidFill>
              </a:rPr>
              <a:t>Trend is interpreted within the active filter and time context.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907792" y="4809744"/>
            <a:ext cx="795528" cy="-237744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3703320" y="4572000"/>
            <a:ext cx="722376" cy="13716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4425696" y="4709160"/>
            <a:ext cx="713232" cy="-429768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5138928" y="4279392"/>
            <a:ext cx="694944" cy="13716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5833872" y="4416552"/>
            <a:ext cx="704088" cy="-484632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6537960" y="3931920"/>
            <a:ext cx="704088" cy="109728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2866644" y="4768596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62172" y="4530852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84548" y="4668012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97780" y="4238244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92724" y="4375404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6812" y="3890772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00900" y="4000500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88920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27084"/>
                </a:solidFill>
              </a:rPr>
              <a:t>Q1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502152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27084"/>
                </a:solidFill>
              </a:rPr>
              <a:t>Q2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215384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27084"/>
                </a:solidFill>
              </a:rPr>
              <a:t>Q3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928616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27084"/>
                </a:solidFill>
              </a:rPr>
              <a:t>Q4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641848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27084"/>
                </a:solidFill>
              </a:rPr>
              <a:t>Q5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355080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27084"/>
                </a:solidFill>
              </a:rPr>
              <a:t>Q6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068312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27084"/>
                </a:solidFill>
              </a:rPr>
              <a:t>Q7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653528" y="3044952"/>
            <a:ext cx="3118104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72984" y="3255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Department Comparison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7872984" y="371246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437"/>
                </a:solidFill>
              </a:rPr>
              <a:t>Sales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8705088" y="3721608"/>
            <a:ext cx="1536192" cy="155448"/>
          </a:xfrm>
          <a:prstGeom prst="roundRect">
            <a:avLst>
              <a:gd name="adj" fmla="val 23529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05088" y="3721608"/>
            <a:ext cx="1428659" cy="155448"/>
          </a:xfrm>
          <a:prstGeom prst="roundRect">
            <a:avLst>
              <a:gd name="adj" fmla="val 23529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72984" y="408736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437"/>
                </a:solidFill>
              </a:rPr>
              <a:t>Engineering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8705088" y="4096512"/>
            <a:ext cx="1536192" cy="155448"/>
          </a:xfrm>
          <a:prstGeom prst="roundRect">
            <a:avLst>
              <a:gd name="adj" fmla="val 23529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705088" y="4096512"/>
            <a:ext cx="1198230" cy="155448"/>
          </a:xfrm>
          <a:prstGeom prst="roundRect">
            <a:avLst>
              <a:gd name="adj" fmla="val 23529"/>
            </a:avLst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72984" y="446227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437"/>
                </a:solidFill>
              </a:rPr>
              <a:t>Finance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8705088" y="4471416"/>
            <a:ext cx="1536192" cy="155448"/>
          </a:xfrm>
          <a:prstGeom prst="roundRect">
            <a:avLst>
              <a:gd name="adj" fmla="val 23529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05088" y="4471416"/>
            <a:ext cx="1013887" cy="155448"/>
          </a:xfrm>
          <a:prstGeom prst="roundRect">
            <a:avLst>
              <a:gd name="adj" fmla="val 23529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72984" y="483717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437"/>
                </a:solidFill>
              </a:rPr>
              <a:t>HR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8705088" y="4846320"/>
            <a:ext cx="1536192" cy="155448"/>
          </a:xfrm>
          <a:prstGeom prst="roundRect">
            <a:avLst>
              <a:gd name="adj" fmla="val 23529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705088" y="4846320"/>
            <a:ext cx="890991" cy="155448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33472" y="5541264"/>
            <a:ext cx="8138160" cy="466344"/>
          </a:xfrm>
          <a:prstGeom prst="roundRect">
            <a:avLst>
              <a:gd name="adj" fmla="val 27451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34640" y="5678424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Insight workflow: KPI → filter/compare → drill down → explain the change → report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ACTUAL PROJECT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Live Dashboard Evidence — Review-2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Four captured screens from the deployed BI dashboard show implementation, execution, and analytical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5669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xecu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700784"/>
            <a:ext cx="5559552" cy="1627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41985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Executive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669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700784"/>
            <a:ext cx="5559552" cy="16276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341985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Sales &amp;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657600"/>
            <a:ext cx="5669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712464"/>
            <a:ext cx="5559552" cy="16276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1480" y="543153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Finance &amp; Cash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669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nsigh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3712464"/>
            <a:ext cx="5559552" cy="1627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920" y="543153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Business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DASHBOARD SCREEN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Executive BI — Organizational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High-level KPI monitoring and cross-departmental decision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627632"/>
            <a:ext cx="8366760" cy="3858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xecu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82496"/>
            <a:ext cx="8257032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22976"/>
            <a:ext cx="8366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Captured Executive Performance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6916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42832" y="1691640"/>
            <a:ext cx="64008" cy="914400"/>
          </a:xfrm>
          <a:prstGeom prst="rect">
            <a:avLst/>
          </a:prstGeom>
          <a:solidFill>
            <a:srgbClr val="2F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424" y="1801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KPI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Revenue, profit, margin, growth, customer value and employee productivity are visible in one executive 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74320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42832" y="2743200"/>
            <a:ext cx="64008" cy="914400"/>
          </a:xfrm>
          <a:prstGeom prst="rect">
            <a:avLst/>
          </a:prstGeom>
          <a:solidFill>
            <a:srgbClr val="18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Global filtering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Date, region, department, category and customer-segment filters provide a shared analytical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947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42832" y="3794760"/>
            <a:ext cx="64008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39044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Revenue/profit trend and revenue contribution visuals support deeper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9204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3665"/>
                </a:solidFill>
                <a:latin typeface="Aptos"/>
              </a:rPr>
              <a:t>What to demonstrate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Use during the live demo.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Point to the KPI/visuals and explain the analytical purpose.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DASHBOARD SCREEN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Sales &amp; Revenue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Revenue, orders, average order value and quota-achievement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627632"/>
            <a:ext cx="8366760" cy="3858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82496"/>
            <a:ext cx="8257032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22976"/>
            <a:ext cx="8366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Captured Sales &amp; Revenue Operations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6916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42832" y="1691640"/>
            <a:ext cx="64008" cy="914400"/>
          </a:xfrm>
          <a:prstGeom prst="rect">
            <a:avLst/>
          </a:prstGeom>
          <a:solidFill>
            <a:srgbClr val="2F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424" y="1801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Core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Sales revenue ₹23,31,50,101.47 • 12,500 orders • AOV ₹18,652.01 • quota achievement 94%.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74320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42832" y="2743200"/>
            <a:ext cx="64008" cy="914400"/>
          </a:xfrm>
          <a:prstGeom prst="rect">
            <a:avLst/>
          </a:prstGeom>
          <a:solidFill>
            <a:srgbClr val="18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Monthly actual revenue is compared against sales quota for target tracking.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947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42832" y="3794760"/>
            <a:ext cx="64008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39044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Performance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Leaderboard and customer-segment views support sales-team and market-segment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9204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3665"/>
                </a:solidFill>
                <a:latin typeface="Aptos"/>
              </a:rPr>
              <a:t>What to demonstrate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Use during the live demo.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Point to the KPI/visuals and explain the analytical purpose.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DASHBOARD SCREEN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Financial &amp; Cash Flow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P&amp;L, operating expenditure, profit margin and cash-flow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627632"/>
            <a:ext cx="8366760" cy="3858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82496"/>
            <a:ext cx="8257032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22976"/>
            <a:ext cx="8366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Captured Financial &amp; Cash Flow Analytics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6916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42832" y="1691640"/>
            <a:ext cx="64008" cy="914400"/>
          </a:xfrm>
          <a:prstGeom prst="rect">
            <a:avLst/>
          </a:prstGeom>
          <a:solidFill>
            <a:srgbClr val="2F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424" y="1801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Financial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Gross revenue ₹23,31,50,101.47 • operating expense ₹7,82,28,509.72 • net profit ₹10,07,11,852.06.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74320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42832" y="2743200"/>
            <a:ext cx="64008" cy="914400"/>
          </a:xfrm>
          <a:prstGeom prst="rect">
            <a:avLst/>
          </a:prstGeom>
          <a:solidFill>
            <a:srgbClr val="18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Profitability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Profit margin is displayed at 43.2% alongside the trend 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947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42832" y="3794760"/>
            <a:ext cx="64008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39044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Cash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Net cash flow is shown as ₹6,11,46,190.12 with an operating-expense breakdown.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9204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3665"/>
                </a:solidFill>
                <a:latin typeface="Aptos"/>
              </a:rPr>
              <a:t>What to demonstrate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Use during the live demo.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Point to the KPI/visuals and explain the analytical purpose.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DASHBOARD SCREEN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Automated Business Insights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Evidence-driven findings, contextual metrics, estimated impact and strategic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627632"/>
            <a:ext cx="8366760" cy="3858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82496"/>
            <a:ext cx="8257032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22976"/>
            <a:ext cx="8366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Captured Automated Business Insights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6916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42832" y="1691640"/>
            <a:ext cx="64008" cy="914400"/>
          </a:xfrm>
          <a:prstGeom prst="rect">
            <a:avLst/>
          </a:prstGeom>
          <a:solidFill>
            <a:srgbClr val="2F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424" y="1801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Regional margin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Middle East &amp; Africa: ₹48,279,757 revenue and 43.0% margin; compared with Latin America at 43.4%.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74320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42832" y="2743200"/>
            <a:ext cx="64008" cy="914400"/>
          </a:xfrm>
          <a:prstGeom prst="rect">
            <a:avLst/>
          </a:prstGeom>
          <a:solidFill>
            <a:srgbClr val="18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Marketing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Events &amp; Webinars is shown with 9726.7% marketing ROI plus revenue, spend and CAC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947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42832" y="3794760"/>
            <a:ext cx="64008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39044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Recommendation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Each insight is structured as finding/context → empirical evidence → estimated impact → recommended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9204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3665"/>
                </a:solidFill>
                <a:latin typeface="Aptos"/>
              </a:rPr>
              <a:t>What to demonstrate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Use during the live demo.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Point to the KPI/visuals and explain the analytical purpose.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Execution &amp; Functionality – Demonstration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084"/>
                </a:solidFill>
              </a:rPr>
              <a:t>This is the sequence to follow during the live Review-2 demonstration.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27632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465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Open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9568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Launch the deployed BI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4173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27632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465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Inspect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57800" y="19568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Read KPIs and current dashboard state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4173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27632"/>
            <a:ext cx="566928" cy="566928"/>
          </a:xfrm>
          <a:prstGeom prst="ellipse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7465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Filter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961120" y="19568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Change time / organizational context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34747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685032"/>
            <a:ext cx="566928" cy="566928"/>
          </a:xfrm>
          <a:prstGeom prst="ellipse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8039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Compare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54480" y="40142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Identify differences across units or periods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61688" y="34747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685032"/>
            <a:ext cx="566928" cy="5669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8039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Drill Down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257800" y="40142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Move from summary to detailed records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65008" y="34747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685032"/>
            <a:ext cx="566928" cy="5669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38039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0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Report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961120" y="40142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Explain result and export/share the view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991088" y="1783080"/>
            <a:ext cx="411480" cy="411480"/>
          </a:xfrm>
          <a:prstGeom prst="chevron">
            <a:avLst/>
          </a:prstGeom>
          <a:solidFill>
            <a:srgbClr val="29C7D6"/>
          </a:solidFill>
          <a:ln w="12700">
            <a:solidFill>
              <a:srgbClr val="29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7790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27084"/>
                </a:solidFill>
              </a:rPr>
              <a:t>Live demo cue: keep the dashboard open on one screen and this slide on the presentation timeline so the evaluator can map each action to the function under review.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Execution &amp; Functionality – What the Dashboard Delivers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084"/>
                </a:solidFill>
              </a:rPr>
              <a:t>Core functions are grouped by the analytical job they help the user perform.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81328"/>
            <a:ext cx="201168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MONITOR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KPI cards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Current state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Trend indicators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35024" y="3172968"/>
            <a:ext cx="475488" cy="256032"/>
          </a:xfrm>
          <a:prstGeom prst="chevron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43784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3784" y="1481328"/>
            <a:ext cx="2011680" cy="7315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FILTER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81528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Time period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Department / unit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Context reset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11880" y="3172968"/>
            <a:ext cx="475488" cy="256032"/>
          </a:xfrm>
          <a:prstGeom prst="chevron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481328"/>
            <a:ext cx="2011680" cy="73152"/>
          </a:xfrm>
          <a:prstGeom prst="rect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COMPARE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58384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Period vs period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Unit vs unit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Target vs actual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88736" y="3172968"/>
            <a:ext cx="475488" cy="256032"/>
          </a:xfrm>
          <a:prstGeom prst="chevron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7496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1481328"/>
            <a:ext cx="2011680" cy="73152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07224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DIAGNOSE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635240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Drill-down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Segment contribution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Supporting table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65592" y="3172968"/>
            <a:ext cx="475488" cy="256032"/>
          </a:xfrm>
          <a:prstGeom prst="chevron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74352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74352" y="1481328"/>
            <a:ext cx="2011680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COMMUNICATE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912096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Summary view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Export / report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82437"/>
                </a:solidFill>
              </a:rPr>
              <a:t>Decision context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442448" y="3172968"/>
            <a:ext cx="475488" cy="256032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977640"/>
            <a:ext cx="10954512" cy="1517904"/>
          </a:xfrm>
          <a:prstGeom prst="roundRect">
            <a:avLst>
              <a:gd name="adj" fmla="val 8434"/>
            </a:avLst>
          </a:prstGeom>
          <a:solidFill>
            <a:srgbClr val="EDF7F8"/>
          </a:solidFill>
          <a:ln w="12700">
            <a:solidFill>
              <a:srgbClr val="B7E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2702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</a:rPr>
              <a:t>Functionality validation logic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52928" y="4169664"/>
            <a:ext cx="8183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437"/>
                </a:solidFill>
              </a:rPr>
              <a:t>A valid filter must change every linked visual consistently. A valid KPI must match an independent calculation. A valid drill-down must preserve context. A valid report must reflect the active filter state.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" y="580644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Result: the dashboard is evaluated as a workflow, not as a collection of disconnected charts.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Results Obtained – Implemented Dashboard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084"/>
                </a:solidFill>
              </a:rPr>
              <a:t>Results are presented as observed analytical outputs rather than unsupported numerical claims.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6596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536192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Output area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06040" y="1417320"/>
            <a:ext cx="434340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88336" y="1536192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Observed result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417320"/>
            <a:ext cx="388620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31736" y="1536192"/>
            <a:ext cx="3721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Analysis / value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1965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975104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KPI overview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06040" y="1847088"/>
            <a:ext cx="4343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975104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437"/>
                </a:solidFill>
              </a:rPr>
              <a:t>Consolidated performance indicators in a single 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1847088"/>
            <a:ext cx="3886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31736" y="1975104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437"/>
                </a:solidFill>
              </a:rPr>
              <a:t>Reduces the need to assemble separate reports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615184"/>
            <a:ext cx="196596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2743200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Trend analysis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06040" y="2615184"/>
            <a:ext cx="434340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8336" y="2743200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437"/>
                </a:solidFill>
              </a:rPr>
              <a:t>Time-based visualization of changing performance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2615184"/>
            <a:ext cx="388620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31736" y="2743200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437"/>
                </a:solidFill>
              </a:rPr>
              <a:t>Makes direction and turning points easier to inspect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383280"/>
            <a:ext cx="1965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" y="3511296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Comparison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06040" y="3383280"/>
            <a:ext cx="4343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3511296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437"/>
                </a:solidFill>
              </a:rPr>
              <a:t>Cross-unit / cross-period comparison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0" y="3383280"/>
            <a:ext cx="3886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31736" y="3511296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437"/>
                </a:solidFill>
              </a:rPr>
              <a:t>Helps identify relative under- and over-performance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51376"/>
            <a:ext cx="196596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4279392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Interactive context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06040" y="4151376"/>
            <a:ext cx="434340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88336" y="4279392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437"/>
                </a:solidFill>
              </a:rPr>
              <a:t>Filter-driven analytical views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49440" y="4151376"/>
            <a:ext cx="388620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31736" y="4279392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437"/>
                </a:solidFill>
              </a:rPr>
              <a:t>Lets the user focus on the relevant population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919472"/>
            <a:ext cx="1965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" y="5047488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Decision workflow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06040" y="4919472"/>
            <a:ext cx="4343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88336" y="5047488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437"/>
                </a:solidFill>
              </a:rPr>
              <a:t>Summary → compare → drill down → report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49440" y="4919472"/>
            <a:ext cx="3886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31736" y="5047488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437"/>
                </a:solidFill>
              </a:rPr>
              <a:t>Connects observation to explanation and communication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5824728"/>
            <a:ext cx="10716768" cy="411480"/>
          </a:xfrm>
          <a:prstGeom prst="roundRect">
            <a:avLst>
              <a:gd name="adj" fmla="val 31111"/>
            </a:avLst>
          </a:prstGeom>
          <a:solidFill>
            <a:srgbClr val="FFF7E8"/>
          </a:solidFill>
          <a:ln w="12700">
            <a:solidFill>
              <a:srgbClr val="F5D59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5943600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5A17"/>
                </a:solidFill>
              </a:rPr>
              <a:t>Publication integrity note: no fabricated accuracy, latency or user-study values are shown here. Those measurements should be added after controlled testing.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Results Analysis – Quality, Performance &amp; Reliability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084"/>
                </a:solidFill>
              </a:rPr>
              <a:t>Review-2 should show not only what works, but how the implementation will be judged for quality.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201168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Evaluation area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78608" y="1353312"/>
            <a:ext cx="365760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is analyzed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36208" y="1353312"/>
            <a:ext cx="452628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463040"/>
            <a:ext cx="437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 to capture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78308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92808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F3A"/>
                </a:solidFill>
              </a:rPr>
              <a:t>Functional correctness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578608" y="178308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892808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437"/>
                </a:solidFill>
              </a:rPr>
              <a:t>Filters, sorting, drill-down, export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4526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92808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437"/>
                </a:solidFill>
              </a:rPr>
              <a:t>Scenario tests + expected/actual comparison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66928" y="2441448"/>
            <a:ext cx="2011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51176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F3A"/>
                </a:solidFill>
              </a:rPr>
              <a:t>Data integrity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2578608" y="2441448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55117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437"/>
                </a:solidFill>
              </a:rPr>
              <a:t>Completeness, duplicates, reconciliation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236208" y="2441448"/>
            <a:ext cx="45262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551176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437"/>
                </a:solidFill>
              </a:rPr>
              <a:t>Independent reference calculation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66928" y="3099816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09544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F3A"/>
                </a:solidFill>
              </a:rPr>
              <a:t>Web performance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2578608" y="3099816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209544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437"/>
                </a:solidFill>
              </a:rPr>
              <a:t>LCP / INP / CLS + API latency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236208" y="3099816"/>
            <a:ext cx="4526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209544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437"/>
                </a:solidFill>
              </a:rPr>
              <a:t>Controlled desktop + mobile runs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566928" y="3758184"/>
            <a:ext cx="2011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867912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F3A"/>
                </a:solidFill>
              </a:rPr>
              <a:t>Usability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2578608" y="3758184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3867912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437"/>
                </a:solidFill>
              </a:rPr>
              <a:t>Task success, time, perceived ease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236208" y="3758184"/>
            <a:ext cx="45262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867912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437"/>
                </a:solidFill>
              </a:rPr>
              <a:t>Representative users + SUS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566928" y="4416552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526280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F3A"/>
                </a:solidFill>
              </a:rPr>
              <a:t>Accessibility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2578608" y="4416552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4526280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437"/>
                </a:solidFill>
              </a:rPr>
              <a:t>Keyboard, focus, semantics, contrast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6236208" y="4416552"/>
            <a:ext cx="4526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526280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437"/>
                </a:solidFill>
              </a:rPr>
              <a:t>Automated + manual WCAG review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66928" y="5074920"/>
            <a:ext cx="2011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184648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F3A"/>
                </a:solidFill>
              </a:rPr>
              <a:t>Security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2578608" y="5074920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1760" y="5184648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437"/>
                </a:solidFill>
              </a:rPr>
              <a:t>Auth, access control, validation, data exposure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6236208" y="5074920"/>
            <a:ext cx="45262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5184648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437"/>
                </a:solidFill>
              </a:rPr>
              <a:t>Endpoint and configuration tests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566928" y="5852160"/>
            <a:ext cx="10954512" cy="402336"/>
          </a:xfrm>
          <a:prstGeom prst="roundRect">
            <a:avLst>
              <a:gd name="adj" fmla="val 31818"/>
            </a:avLst>
          </a:prstGeom>
          <a:solidFill>
            <a:srgbClr val="EEF8F6"/>
          </a:solidFill>
          <a:ln w="12700">
            <a:solidFill>
              <a:srgbClr val="B8DFD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9618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3594E"/>
                </a:solidFill>
              </a:rPr>
              <a:t>Analysis message: performance should be measured, not assumed. When a bottleneck is found, optimize data transfer, rendering and repeated calculations before adding more visual complexity.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Findings, Novelty &amp; Research Upgrade</a:t>
            </a:r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084"/>
                </a:solidFill>
              </a:rPr>
              <a:t>The Review-2 discussion should show that the team understands what is complete and what still needs engineering evidence.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07492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144768" y="1417320"/>
            <a:ext cx="507492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CURRENT STRENGTHS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434340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Unified BI interface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Interactive analytical flow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Clear KPI-to-analysis concept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Live deployment for demonstration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5230368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23544" y="526237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IMPLEMENTED / DEMONSTRABLE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19088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NEXT ENGINEERING STEPS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9088" y="2212848"/>
            <a:ext cx="434340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Instrument performance metrics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Validate every KPI against reference calculations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Add stronger drill-down / anomaly explanation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Complete accessibility and security testing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Collect user-study evidence if publication is required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19088" y="5230368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73952" y="52623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NEXT ITERATION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59893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7084"/>
                </a:solidFill>
              </a:rPr>
              <a:t>Why this matters for Review-2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595274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437"/>
                </a:solidFill>
              </a:rPr>
              <a:t>A strong review explicitly connects implementation → observed output → analysis → improvement plan.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Conclusion – Research-Grade Takeaway</a:t>
            </a:r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084"/>
                </a:solidFill>
              </a:rPr>
              <a:t>Close the review by showing the evaluator the complete story of the implemented artifact.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353312"/>
            <a:ext cx="6537960" cy="4480560"/>
          </a:xfrm>
          <a:prstGeom prst="roundRect">
            <a:avLst>
              <a:gd name="adj" fmla="val 285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737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we have demonstrated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548640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A"/>
                </a:solidFill>
              </a:rPr>
              <a:t>A deployable BI dashboard that converts organizational data into visual analytics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A"/>
                </a:solidFill>
              </a:rPr>
              <a:t>A structured execution flow from KPI monitoring to comparison and detailed analysis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A"/>
                </a:solidFill>
              </a:rPr>
              <a:t>A clear framework for validating correctness, performance, usability and accessibility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A"/>
                </a:solidFill>
              </a:rPr>
              <a:t>A measurable roadmap for improving the artifact beyond the current review stage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50109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C7D6"/>
                </a:solidFill>
              </a:rPr>
              <a:t>Live demo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49743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Open the deployed dashboard during Q&amp;A / evaluator interaction.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1353312"/>
            <a:ext cx="4069080" cy="4480560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818120" y="1737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3-part Review-2 story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836408" y="233172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836408" y="24963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77072" y="235000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IMPLEMENT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77072" y="26426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084"/>
                </a:solidFill>
              </a:rPr>
              <a:t>System built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36408" y="3246120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836408" y="34107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77072" y="326440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EXECUTE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77072" y="35570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084"/>
                </a:solidFill>
              </a:rPr>
              <a:t>System works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36408" y="4160520"/>
            <a:ext cx="566928" cy="566928"/>
          </a:xfrm>
          <a:prstGeom prst="ellipse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836408" y="43251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77072" y="417880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ANALYZE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77072" y="44714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084"/>
                </a:solidFill>
              </a:rPr>
              <a:t>Results understood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09560" y="5074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A3B1"/>
                </a:solidFill>
              </a:rPr>
              <a:t>Thank You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065008" y="554126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084"/>
                </a:solidFill>
              </a:rPr>
              <a:t>Questions &amp; demonstration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Research Gap &amp; Mandatory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project is upgraded from a dashboard artifact to a testable hybrid decision-intelligence research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2704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WHAT EXISTS IN THE CURRENT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56232"/>
            <a:ext cx="3209544" cy="3035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Executive BI</a:t>
            </a:r>
            <a:br/>
            <a:r>
              <a:t>Sales &amp; Revenue</a:t>
            </a:r>
            <a:br/>
            <a:r>
              <a:t>Finance &amp; Cash Flow</a:t>
            </a:r>
            <a:br/>
            <a:r>
              <a:t>Marketing / HR / Operations</a:t>
            </a:r>
            <a:br/>
            <a:r>
              <a:t>RFM &amp; Analytics</a:t>
            </a:r>
            <a:br/>
            <a:r>
              <a:t>Data Quality / ETL</a:t>
            </a:r>
            <a:br/>
            <a:r>
              <a:t>Automated Business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52704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WHY THAT IS NOT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856232"/>
            <a:ext cx="3209544" cy="3035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A dashboard alone is not novelty.</a:t>
            </a:r>
            <a:br/>
            <a:br/>
            <a:r>
              <a:t>Multiple datasets alone are not novelty.</a:t>
            </a:r>
            <a:br/>
            <a:br/>
            <a:r>
              <a:t>Individual ML models alone are not novelty.</a:t>
            </a:r>
            <a:br/>
            <a:br/>
            <a:r>
              <a:t>The research needs a new computational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42900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52704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PROPOSED RESEARCH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856232"/>
            <a:ext cx="3209544" cy="3035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Hybrid Evidence-Weighted Decision Fusion (HEWDF)</a:t>
            </a:r>
            <a:br/>
            <a:br/>
            <a:r>
              <a:t>Fuse predictive evidence + anomaly evidence + KPI deviation + cross-functional propagation + data/model reliability into an auditable decision-priority score.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new HEWDF layer is explicitly located after analytics generation and before recommendation/decision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19</a:t>
            </a:r>
          </a:p>
        </p:txBody>
      </p:sp>
      <p:pic>
        <p:nvPicPr>
          <p:cNvPr id="6" name="Picture 5" descr="hybri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10881360" cy="60370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Detailed Methodology &amp; Research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methodology separates observation, prediction, diagnosis, prioritization, and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35607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1. 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6479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CSV / DB / API records are validated and profiled.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35607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2. Data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6479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Completeness, validity, duplicates, consistency and outlier indicators produce reliability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7" y="1435607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3. Analytical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7" y="176479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The system selects supported descriptive, predictive and anomaly analyses from data characteristics.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6616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675888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4. Cross-functional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00507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Linked KPIs across sales, finance, marketing, HR and operations form propagation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56616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675888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</a:defRPr>
            </a:pPr>
            <a:r>
              <a:t>5. HEWDF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00507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Evidence is normalized, reliability-adjusted and fused into a decision-priority score.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56616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7" y="3675888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</a:defRPr>
            </a:pPr>
            <a:r>
              <a:t>6. Traceable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400507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The system exposes the evidence chain and decision simulation rather than a black-box recommendation.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Hybrid Evidence-Weighted Decision Fusion (HEWDF)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Proposed mathematical formulation for the novel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Hᵢ = Σₖ wᵢₖ Eᵢₖ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100584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142034"/>
                </a:solidFill>
              </a:defRPr>
            </a:pPr>
            <a:r>
              <a:t>Eᵢ = [Pᵢ, Aᵢ, Dᵢ, Cᵢ, Qᵢ]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21031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264408"/>
            <a:ext cx="1883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Pᵢ — Predictive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93592"/>
            <a:ext cx="1883663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Forecast residual / expected-value deviation.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154680"/>
            <a:ext cx="21031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3264408"/>
            <a:ext cx="1883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Aᵢ — 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3593592"/>
            <a:ext cx="1883663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Statistical or ML anomaly severity.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154680"/>
            <a:ext cx="21031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3264408"/>
            <a:ext cx="1883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Dᵢ — KPI deviation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3593592"/>
            <a:ext cx="1883663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Distance from target/baseline.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154680"/>
            <a:ext cx="21031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7" y="3264408"/>
            <a:ext cx="1883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Cᵢ — Propagation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7" y="3593592"/>
            <a:ext cx="1883663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Cross-functional dependency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3154680"/>
            <a:ext cx="160020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6688" y="3264408"/>
            <a:ext cx="13807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</a:defRPr>
            </a:pPr>
            <a:r>
              <a:t>Qᵢ — 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6688" y="3593592"/>
            <a:ext cx="1380744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Data/model reliability adjustment.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F6E82"/>
                </a:solidFill>
              </a:defRPr>
            </a:pPr>
            <a:r>
              <a:t>Weights are adaptive rather than fixed: evidence reliability and information content determine how strongly each evidence stream contributes.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Results — Observed Dashboard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Values transcribed from the current project output captures supplied with Review-2.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3444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Observed metric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Dashboard evidence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₹23,31,50,101.47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Executive /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12,500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Average order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₹18,652.01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Quota achievement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Net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₹10,07,11,852.06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Executive /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Net profit margin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Executive / Finance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Operating expense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₹7,82,28,509.72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Net cash flow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₹6,11,46,190.12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Revenue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+100.4%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Executive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Marketing ROI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9726.7%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Business Insights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000" b="0">
                <a:solidFill>
                  <a:srgbClr val="5F6E82"/>
                </a:solidFill>
              </a:defRPr>
            </a:pPr>
            <a:r>
              <a:t>Interpretation: these are artifact-observable business results; they are not substituted for controlled ML accuracy or web-performance benchmarks.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Results — Graphical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Graphs are computed from the observed dashboard outputs, not fabricated benchmark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23</a:t>
            </a:r>
          </a:p>
        </p:txBody>
      </p:sp>
      <p:pic>
        <p:nvPicPr>
          <p:cNvPr id="6" name="Picture 5" descr="financial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440680" cy="2952258"/>
          </a:xfrm>
          <a:prstGeom prst="rect">
            <a:avLst/>
          </a:prstGeom>
        </p:spPr>
      </p:pic>
      <p:pic>
        <p:nvPicPr>
          <p:cNvPr id="7" name="Picture 6" descr="percentage_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440680" cy="29522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577840"/>
            <a:ext cx="1060704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000" b="0">
                <a:solidFill>
                  <a:srgbClr val="5F6E82"/>
                </a:solidFill>
              </a:defRPr>
            </a:pPr>
            <a:r>
              <a:t>Financial scale: revenue is the largest observed aggregate; net profit and cash flow provide profitability/liquidity context. Percentage view: growth and quota attainment are separated from margin to preserve interpretability.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Results — Business Insight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automated-insights screen links findings to evidence, impact and recommended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24</a:t>
            </a:r>
          </a:p>
        </p:txBody>
      </p:sp>
      <p:pic>
        <p:nvPicPr>
          <p:cNvPr id="6" name="Picture 5" descr="ca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212080" cy="282821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43000"/>
            <a:ext cx="5623560" cy="25930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23560"/>
            <a:ext cx="1060704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000" b="0">
                <a:solidFill>
                  <a:srgbClr val="5F6E82"/>
                </a:solidFill>
              </a:defRPr>
            </a:pPr>
            <a:r>
              <a:t>Interpretation: Events &amp; Webinars is shown with ₹26.26 CAC versus ₹302.00 for Partner Referrals. The screenshot also demonstrates the existing four-part insight structure: context → evidence → impact →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Frontend Output Screenshots — Research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dashboard screenshots are part of the results section because the deployed frontend is the research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5486400" cy="21488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5440680" cy="21488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66160"/>
            <a:ext cx="5486400" cy="214884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566160"/>
            <a:ext cx="544068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Novelty Positioning — What Is Actually New?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claim is framed as a proposed system-level contribution, not as an unsupported “first ever” statement.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7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799"/>
                <a:gridCol w="3733799"/>
                <a:gridCol w="3733799"/>
              </a:tblGrid>
              <a:tr h="716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Research direction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Established capability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Proposed project contribution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Adaptive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Adaptive algorithms /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Reliability-adjusted evidence routing inside organizational KPI decision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Cross-department BI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Cross-functional visualization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Cross-KPI propagation becomes an explicit decision-priority evidence stream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Hybrid ML–MCDM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Predictive + multi-criteria decision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BI-specific fusion of prediction + anomaly + KPI + propagation + reliability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Anomaly ensembles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Multiple anomaly models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Anomaly output becomes one component of a broader auditable decision score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Decision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Dashboards /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Evidence lineage from source metric to fused priority and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715000"/>
            <a:ext cx="107899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000" b="1">
                <a:solidFill>
                  <a:srgbClr val="B45028"/>
                </a:solidFill>
              </a:defRPr>
            </a:pPr>
            <a:r>
              <a:t>Important: a systematic literature review is still required before claiming that no equivalent combination exists in any prior paper.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Experimental Evaluation &amp;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novelty must be demonstrated experimentally rather than asserted.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63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Primary performance metrics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Dashboard/rule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Top-k priority precision;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Single predictive/anomaly model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MAE/RMSE/MAPE or Precision/Recall/F1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Fixed-weight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Ranking quality; false-priority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Proposed HEWDF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Ranking quality; evidence completeness; latency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A1–A5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Remove one HEWDF evidence 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Change in ranking quality and false-priority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166360"/>
            <a:ext cx="1033272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00" b="1">
                <a:solidFill>
                  <a:srgbClr val="142034"/>
                </a:solidFill>
              </a:defRPr>
            </a:pPr>
            <a:r>
              <a:t>Publication rule: if no labeled ground truth or controlled decision study exists, do not invent accuracy values. Use a reproducible synthetic benchmark or expert-validated task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Research Paper Mapping — Mandatory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Every included table, graph and screenshot is explained in the paper's Results section.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29000" cy="39319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8132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3209544" cy="34015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Table 5 — observed KPI results</a:t>
            </a:r>
            <a:br/>
            <a:r>
              <a:t>Table 6 — internal consistency checks</a:t>
            </a:r>
            <a:br/>
            <a:r>
              <a:t>Table 7 — evidence boundary</a:t>
            </a:r>
            <a:br/>
            <a:r>
              <a:t>Table 8 — novelty positioning</a:t>
            </a:r>
            <a:br/>
            <a:r>
              <a:t>Table 9 — hybrid-model evaluation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39319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48132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810512"/>
            <a:ext cx="3209544" cy="34015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Fig. 5 — financial performance</a:t>
            </a:r>
            <a:br/>
            <a:r>
              <a:t>Fig. 6 — percentage KPIs</a:t>
            </a:r>
            <a:br/>
            <a:r>
              <a:t>Fig. 7 — CAC comparison</a:t>
            </a:r>
            <a:br/>
            <a:r>
              <a:t>Each graph has a results interpretation paragraph.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429000" cy="39319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48132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FRONTEND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810512"/>
            <a:ext cx="3209544" cy="34015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Fig. 8 — Executive BI</a:t>
            </a:r>
            <a:br/>
            <a:r>
              <a:t>Fig. 9 — Sales</a:t>
            </a:r>
            <a:br/>
            <a:r>
              <a:t>Fig. 10 — Finance</a:t>
            </a:r>
            <a:br/>
            <a:r>
              <a:t>Fig. 11 — Business Insights</a:t>
            </a:r>
            <a:br/>
            <a:r>
              <a:t>Each screenshot is explained as research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Final Research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project now has a clear chain from implementation to measurable research contribution.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REAL DATA  →  ETL  →  BI  →  ML / ANOMALY  →  HEWDF  →  TRACEABLE DECISION PRIORITY  →  BUSINESS INSIGHT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3017520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441448"/>
            <a:ext cx="27980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70632"/>
            <a:ext cx="2798063" cy="1527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Working enterprise BI artifact</a:t>
            </a:r>
            <a:br/>
            <a:r>
              <a:t>Multiple functional dashboards</a:t>
            </a:r>
            <a:br/>
            <a:r>
              <a:t>ETL / data quality /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331720"/>
            <a:ext cx="3017520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441448"/>
            <a:ext cx="27980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NOVELTY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770632"/>
            <a:ext cx="2798063" cy="1527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Hybrid Evidence-Weighted Decision Fusion</a:t>
            </a:r>
            <a:br/>
            <a:r>
              <a:t>Adaptive reliability weighting</a:t>
            </a:r>
            <a:br/>
            <a:r>
              <a:t>Cross-functional propagation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017520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441448"/>
            <a:ext cx="27980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770632"/>
            <a:ext cx="2798063" cy="1527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Observed KPI results</a:t>
            </a:r>
            <a:br/>
            <a:r>
              <a:t>Graphs</a:t>
            </a:r>
            <a:br/>
            <a:r>
              <a:t>Frontend screenshots</a:t>
            </a:r>
            <a:br/>
            <a:r>
              <a:t>Controlled evaluation + ablation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1">
                <a:solidFill>
                  <a:srgbClr val="142034"/>
                </a:solidFill>
              </a:defRPr>
            </a:pPr>
            <a:r>
              <a:t>Next mandatory step: implement HEWDF in the live project, run the baseline/ablation experiments, and replace the current “not yet measured” cells with actual model-performance and web-performance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• Research-grade revision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341"/>
                </a:solidFill>
              </a:defRPr>
            </a:pPr>
            <a:r>
              <a:t>Comparative Analysis — Existing BI vs Proposed Hybrid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Comparison is architectural and methodological; no unmeasured ML accuracy is presented as a result.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0996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Current deployed BI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Proposed HEWDF extension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Primary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KPI cards, charts, dashboards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Evidence-weighted decision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Forecasting evidence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Separate analytical output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Feeds predictive-deviation component P_i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Anomaly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Separate exception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Feeds anomaly-severity component A_i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KPI target deviation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Visible performance measures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Feeds KPI-deviation component D_i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Cross-functional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Department 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Feeds propagation component C_i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Data/model reliability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Data-quality view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Feeds reliability component Q_i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Decision traceability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Insight/dashboard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Evidence vector -&gt; score -&gt; rationale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Observed business KPI outputs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Controlled baseline + ablation experiments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6236208"/>
            <a:ext cx="10607040" cy="502920"/>
          </a:xfrm>
          <a:prstGeom prst="roundRect">
            <a:avLst/>
          </a:prstGeom>
          <a:solidFill>
            <a:srgbClr val="F8F4E8"/>
          </a:solidFill>
          <a:ln>
            <a:solidFill>
              <a:srgbClr val="BE6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303C"/>
                </a:solidFill>
              </a:defRPr>
            </a:pPr>
            <a:r>
              <a:t>Research interpretation: the novelty is the fusion mechanism and its audit trail, not the existence of dashboards, forecasting, or anomaly detection alone.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341"/>
                </a:solidFill>
              </a:defRPr>
            </a:pPr>
            <a:r>
              <a:t>Model Performance — Evaluation Evidence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Publication rule: measured metrics must come from controlled execution on the same dataset/version and software revision.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09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2777490"/>
                <a:gridCol w="2777490"/>
                <a:gridCol w="277749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/ layer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 family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 status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Required evidence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Forecasting baseline(s)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MAE, RMSE, MAPE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Not yet measured in supplied Review-2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Time-based holdout + forecast table/plot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Anomaly baseline(s)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Precision, Recall, F1, ROC-AUC/PR-AUC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Not yet measured in supplied Review-2 evidence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Labeled or validated anomaly protocol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HEWDF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Ranking quality, stability, decision utility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Proposed; not yet 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Baseline comparison + ablation + sensitivity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Dashboard artifact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Revenue, profit, AOV, quota, cash flow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Observed from supplied screenshots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Frontend screenshots + consistency checks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983480"/>
            <a:ext cx="10607040" cy="685800"/>
          </a:xfrm>
          <a:prstGeom prst="roundRect">
            <a:avLst/>
          </a:prstGeom>
          <a:solidFill>
            <a:srgbClr val="FBEFEF"/>
          </a:solidFill>
          <a:ln>
            <a:solidFill>
              <a:srgbClr val="AA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303C"/>
                </a:solidFill>
              </a:defRPr>
            </a:pPr>
            <a:r>
              <a:t>Important: inserting invented accuracy/F1/RMSE values would weaken the research paper. The final model-performance graphs should be populated only after the hybrid layer is executed and logged.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8303C"/>
                </a:solidFill>
              </a:defRPr>
            </a:pPr>
            <a:r>
              <a:t>Baseline candidates: statistical forecasting + tree/ensemble anomaly detector + current KPI rule logic.</a:t>
            </a:r>
          </a:p>
          <a:p>
            <a:pPr>
              <a:spcAft>
                <a:spcPts val="800"/>
              </a:spcAft>
              <a:defRPr sz="1100">
                <a:solidFill>
                  <a:srgbClr val="28303C"/>
                </a:solidFill>
              </a:defRPr>
            </a:pPr>
            <a:r>
              <a:t>Proposed: reliability-adjusted HEWDF using P_i, A_i, D_i, C_i, Q_i.</a:t>
            </a:r>
          </a:p>
          <a:p>
            <a:pPr>
              <a:spcAft>
                <a:spcPts val="800"/>
              </a:spcAft>
              <a:defRPr sz="1100">
                <a:solidFill>
                  <a:srgbClr val="28303C"/>
                </a:solidFill>
              </a:defRPr>
            </a:pPr>
            <a:r>
              <a:t>Primary comparison: predictive error, anomaly F1/PR-AUC, priority-ranking quality, robustness and ablation delta.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341"/>
                </a:solidFill>
              </a:defRPr>
            </a:pPr>
            <a:r>
              <a:t>Required Model-Performance Graphs for the Final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These are the exact plots to generate once controlled experiments are executed.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166360" cy="1965960"/>
          </a:xfrm>
          <a:prstGeom prst="roundRect">
            <a:avLst/>
          </a:prstGeom>
          <a:solidFill>
            <a:srgbClr val="EFF4F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8303C"/>
                </a:solidFill>
              </a:defRPr>
            </a:pPr>
            <a:r>
              <a:t>Forecasting</a:t>
            </a:r>
            <a:br/>
            <a:br/>
            <a:r>
              <a:t>MAE / RMSE / MAPE by model</a:t>
            </a:r>
            <a:br/>
            <a:br/>
            <a:r>
              <a:t>[Populate from experiment log]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166360" cy="1965960"/>
          </a:xfrm>
          <a:prstGeom prst="roundRect">
            <a:avLst/>
          </a:prstGeom>
          <a:solidFill>
            <a:srgbClr val="EFF4F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8303C"/>
                </a:solidFill>
              </a:defRPr>
            </a:pPr>
            <a:r>
              <a:t>Anomaly detection</a:t>
            </a:r>
            <a:br/>
            <a:br/>
            <a:r>
              <a:t>Precision / Recall / F1 / PR-AUC</a:t>
            </a:r>
            <a:br/>
            <a:br/>
            <a:r>
              <a:t>[Populate from experiment log]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749039"/>
            <a:ext cx="5166360" cy="1965960"/>
          </a:xfrm>
          <a:prstGeom prst="roundRect">
            <a:avLst/>
          </a:prstGeom>
          <a:solidFill>
            <a:srgbClr val="EFF4F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8303C"/>
                </a:solidFill>
              </a:defRPr>
            </a:pPr>
            <a:r>
              <a:t>HEWDF ranking</a:t>
            </a:r>
            <a:br/>
            <a:br/>
            <a:r>
              <a:t>NDCG@k / Precision@k / stability</a:t>
            </a:r>
            <a:br/>
            <a:br/>
            <a:r>
              <a:t>[Populate from experiment log]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166360" cy="1965960"/>
          </a:xfrm>
          <a:prstGeom prst="roundRect">
            <a:avLst/>
          </a:prstGeom>
          <a:solidFill>
            <a:srgbClr val="EFF4F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8303C"/>
                </a:solidFill>
              </a:defRPr>
            </a:pPr>
            <a:r>
              <a:t>Ablation</a:t>
            </a:r>
            <a:br/>
            <a:br/>
            <a:r>
              <a:t>Full model vs -P / -A / -D / -C / -Q</a:t>
            </a:r>
            <a:br/>
            <a:br/>
            <a:r>
              <a:t>[Populate from experiment log]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6217920"/>
            <a:ext cx="10058400" cy="502920"/>
          </a:xfrm>
          <a:prstGeom prst="roundRect">
            <a:avLst/>
          </a:prstGeom>
          <a:solidFill>
            <a:srgbClr val="EFF8F3"/>
          </a:solidFill>
          <a:ln>
            <a:solidFill>
              <a:srgbClr val="2D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8303C"/>
                </a:solidFill>
              </a:defRPr>
            </a:pPr>
            <a:r>
              <a:t>Current Review-2 graphs remain business-performance graphs derived from observed dashboard outputs; model graphs are intentionally separated until measured.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341"/>
                </a:solidFill>
              </a:defRPr>
            </a:pPr>
            <a:r>
              <a:t>Implementation Screenshots — Evidence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Each screenshot is tied to a specific research claim and result interpretation.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Screenshot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What it proves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How it is interpreted in Results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Executive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System is operational; organization-level KPIs 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Revenue, profit, margin, orders, AOV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Sales &amp; revenue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Commercial analysis is implemented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Regional revenue, channel/customer views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Financial &amp; cash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Financial analytics is 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Expense, cash flow, profitability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Automated insights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Decision-support layer is visible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303C"/>
                          </a:solidFill>
                        </a:defRPr>
                      </a:pPr>
                      <a:r>
                        <a:t>Evidence, impact and recommended action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754880"/>
            <a:ext cx="10789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8303C"/>
                </a:solidFill>
              </a:defRPr>
            </a:pPr>
            <a:r>
              <a:t>Use the original frontend captures from Review-2 rather than decorative mock-ups.</a:t>
            </a:r>
          </a:p>
          <a:p>
            <a:pPr>
              <a:spcAft>
                <a:spcPts val="800"/>
              </a:spcAft>
              <a:defRPr sz="1300">
                <a:solidFill>
                  <a:srgbClr val="28303C"/>
                </a:solidFill>
              </a:defRPr>
            </a:pPr>
            <a:r>
              <a:t>Caption every screenshot with the dashboard state and the specific evidence visible in the frame.</a:t>
            </a:r>
          </a:p>
          <a:p>
            <a:pPr>
              <a:spcAft>
                <a:spcPts val="800"/>
              </a:spcAft>
              <a:defRPr sz="1300">
                <a:solidFill>
                  <a:srgbClr val="28303C"/>
                </a:solidFill>
              </a:defRPr>
            </a:pPr>
            <a:r>
              <a:t>Keep screenshot-derived values separate from controlled model benchmarks.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341"/>
                </a:solidFill>
              </a:defRPr>
            </a:pPr>
            <a:r>
              <a:t>Final Evidence Package for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The Review-2 presentation and draft paper now use the same research evidence 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074920" cy="841248"/>
          </a:xfrm>
          <a:prstGeom prst="roundRect">
            <a:avLst/>
          </a:prstGeom>
          <a:solidFill>
            <a:srgbClr val="EFF4F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303C"/>
                </a:solidFill>
              </a:defRPr>
            </a:pPr>
            <a:r>
              <a:t>01 — Proposed methodology and research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074920" cy="841248"/>
          </a:xfrm>
          <a:prstGeom prst="roundRect">
            <a:avLst/>
          </a:prstGeom>
          <a:solidFill>
            <a:srgbClr val="EFF4F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303C"/>
                </a:solidFill>
              </a:defRPr>
            </a:pPr>
            <a:r>
              <a:t>02 — Layered system architecture + HEWDF novelty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5074920" cy="841248"/>
          </a:xfrm>
          <a:prstGeom prst="roundRect">
            <a:avLst/>
          </a:prstGeom>
          <a:solidFill>
            <a:srgbClr val="EFF4F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303C"/>
                </a:solidFill>
              </a:defRPr>
            </a:pPr>
            <a:r>
              <a:t>03 — Implementation modules and deployment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468880"/>
            <a:ext cx="5074920" cy="841248"/>
          </a:xfrm>
          <a:prstGeom prst="roundRect">
            <a:avLst/>
          </a:prstGeom>
          <a:solidFill>
            <a:srgbClr val="EFF4F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303C"/>
                </a:solidFill>
              </a:defRPr>
            </a:pPr>
            <a:r>
              <a:t>04 — Frontend screenshots with interpretation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11880"/>
            <a:ext cx="5074920" cy="841248"/>
          </a:xfrm>
          <a:prstGeom prst="roundRect">
            <a:avLst/>
          </a:prstGeom>
          <a:solidFill>
            <a:srgbClr val="EFF4F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303C"/>
                </a:solidFill>
              </a:defRPr>
            </a:pPr>
            <a:r>
              <a:t>05 — Observed KPI results table + computed graphs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611880"/>
            <a:ext cx="5074920" cy="841248"/>
          </a:xfrm>
          <a:prstGeom prst="roundRect">
            <a:avLst/>
          </a:prstGeom>
          <a:solidFill>
            <a:srgbClr val="EFF4F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303C"/>
                </a:solidFill>
              </a:defRPr>
            </a:pPr>
            <a:r>
              <a:t>06 — Comparative analysis: current BI vs proposed hybrid 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754880"/>
            <a:ext cx="5074920" cy="841248"/>
          </a:xfrm>
          <a:prstGeom prst="roundRect">
            <a:avLst/>
          </a:prstGeom>
          <a:solidFill>
            <a:srgbClr val="EFF4F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303C"/>
                </a:solidFill>
              </a:defRPr>
            </a:pPr>
            <a:r>
              <a:t>07 — Controlled model-performance protocol and ablation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754880"/>
            <a:ext cx="5074920" cy="841248"/>
          </a:xfrm>
          <a:prstGeom prst="roundRect">
            <a:avLst/>
          </a:prstGeom>
          <a:solidFill>
            <a:srgbClr val="EFF4F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303C"/>
                </a:solidFill>
              </a:defRPr>
            </a:pPr>
            <a:r>
              <a:t>08 — Evidence boundary: observed vs pending measurements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172200"/>
            <a:ext cx="10058400" cy="502920"/>
          </a:xfrm>
          <a:prstGeom prst="roundRect">
            <a:avLst/>
          </a:prstGeom>
          <a:solidFill>
            <a:srgbClr val="F8F4E8"/>
          </a:solidFill>
          <a:ln>
            <a:solidFill>
              <a:srgbClr val="BE6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303C"/>
                </a:solidFill>
              </a:defRPr>
            </a:pPr>
            <a:r>
              <a:t>Submission principle: every numerical research claim must be traceable to a screenshot, calculation, experiment log, or cited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KLH Hyderabad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BI Dashboard - Project Review 2</dc:title>
  <dc:subject>Data Analytics and Visualization Project - Review 2</dc:subject>
  <dc:creator>Yennam Sesank Reddy</dc:creator>
  <cp:lastModifiedBy>Yennam Sesank Reddy</cp:lastModifiedBy>
  <cp:revision>1</cp:revision>
  <dcterms:created xsi:type="dcterms:W3CDTF">2026-09-16T09:42:49Z</dcterms:created>
  <dcterms:modified xsi:type="dcterms:W3CDTF">2026-09-16T09:42:49Z</dcterms:modified>
</cp:coreProperties>
</file>