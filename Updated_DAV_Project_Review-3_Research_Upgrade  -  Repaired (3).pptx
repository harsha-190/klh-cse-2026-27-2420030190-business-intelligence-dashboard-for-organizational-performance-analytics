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85" r:id="rId8"/>
    <p:sldId id="277" r:id="rId9"/>
    <p:sldId id="274" r:id="rId10"/>
    <p:sldId id="268" r:id="rId11"/>
    <p:sldId id="269" r:id="rId12"/>
    <p:sldId id="270" r:id="rId13"/>
    <p:sldId id="271" r:id="rId14"/>
    <p:sldId id="272" r:id="rId15"/>
    <p:sldId id="262" r:id="rId16"/>
    <p:sldId id="263" r:id="rId17"/>
    <p:sldId id="264" r:id="rId18"/>
    <p:sldId id="265" r:id="rId19"/>
    <p:sldId id="266" r:id="rId20"/>
    <p:sldId id="267" r:id="rId21"/>
    <p:sldId id="273" r:id="rId22"/>
    <p:sldId id="275" r:id="rId23"/>
    <p:sldId id="276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9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5154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74BAA-D356-E1D7-9058-211458638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BA8432-84B0-66A8-F1FB-18C1FE780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16A7B8-D11F-1B85-61CA-9A13C9F1F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89A0D-3787-99D7-6AF0-3B34A6888F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93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6455664"/>
            <a:ext cx="1115568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30352" y="651052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2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DAV Project • Review-2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549640" y="65105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2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BI Dashboard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i-dashboard-05-dav-project.vercel.app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i-dashboard-05-dav-project.vercel.app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8732520" y="457200"/>
            <a:ext cx="3383280" cy="3383280"/>
          </a:xfrm>
          <a:prstGeom prst="arc">
            <a:avLst/>
          </a:prstGeom>
          <a:noFill/>
          <a:ln w="12700">
            <a:solidFill>
              <a:srgbClr val="0FA3B1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269480" y="2743200"/>
            <a:ext cx="4754880" cy="4754880"/>
          </a:xfrm>
          <a:prstGeom prst="arc">
            <a:avLst/>
          </a:prstGeom>
          <a:noFill/>
          <a:ln w="12700">
            <a:solidFill>
              <a:srgbClr val="7357B8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40080" y="566928"/>
            <a:ext cx="2697480" cy="256032"/>
          </a:xfrm>
          <a:prstGeom prst="roundRect">
            <a:avLst>
              <a:gd name="adj" fmla="val 28571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94944" y="598932"/>
            <a:ext cx="2587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DATA ANALYTICS &amp; VISUALIZATION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1566949"/>
            <a:ext cx="7680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Enterprise Business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Intelligence Dashboard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658368" y="32735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dirty="0"/>
          </a:p>
        </p:txBody>
      </p:sp>
      <p:sp>
        <p:nvSpPr>
          <p:cNvPr id="11" name="Text 9"/>
          <p:cNvSpPr/>
          <p:nvPr/>
        </p:nvSpPr>
        <p:spPr>
          <a:xfrm>
            <a:off x="640080" y="3496333"/>
            <a:ext cx="646148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sv-SE" sz="2000" b="1" dirty="0">
                <a:solidFill>
                  <a:schemeClr val="bg1"/>
                </a:solidFill>
              </a:rPr>
              <a:t>Batch – 05 :</a:t>
            </a:r>
          </a:p>
          <a:p>
            <a:r>
              <a:rPr lang="sv-SE" sz="2000" b="1" dirty="0">
                <a:solidFill>
                  <a:schemeClr val="bg1"/>
                </a:solidFill>
              </a:rPr>
              <a:t>Sesank Reddy – 2420030161</a:t>
            </a:r>
          </a:p>
          <a:p>
            <a:r>
              <a:rPr lang="sv-SE" sz="2000" b="1" dirty="0">
                <a:solidFill>
                  <a:schemeClr val="bg1"/>
                </a:solidFill>
              </a:rPr>
              <a:t>Sai Sri Harsha – 2420030190</a:t>
            </a:r>
          </a:p>
          <a:p>
            <a:r>
              <a:rPr lang="sv-SE" sz="2000" b="1" dirty="0">
                <a:solidFill>
                  <a:schemeClr val="bg1"/>
                </a:solidFill>
              </a:rPr>
              <a:t>Sathwik               - 2420030048</a:t>
            </a:r>
          </a:p>
          <a:p>
            <a:r>
              <a:rPr lang="sv-SE" sz="2000" b="1" dirty="0">
                <a:solidFill>
                  <a:schemeClr val="bg1"/>
                </a:solidFill>
              </a:rPr>
              <a:t>Anajan Reddy  -  2420030750</a:t>
            </a:r>
          </a:p>
          <a:p>
            <a:endParaRPr lang="sv-SE" sz="2000" b="1" dirty="0">
              <a:solidFill>
                <a:schemeClr val="bg1"/>
              </a:solidFill>
            </a:endParaRP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Department of Computer Science and Engineering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KLH Hyderabad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909560" y="3794760"/>
            <a:ext cx="3474720" cy="1417320"/>
          </a:xfrm>
          <a:prstGeom prst="roundRect">
            <a:avLst>
              <a:gd name="adj" fmla="val 9032"/>
            </a:avLst>
          </a:prstGeom>
          <a:solidFill>
            <a:srgbClr val="122A4B"/>
          </a:solidFill>
          <a:ln w="12700">
            <a:solidFill>
              <a:srgbClr val="2448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183880" y="40416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DB6CF"/>
                </a:solidFill>
              </a:rPr>
              <a:t>LIVE PROJECT OUTPUT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66176" y="44074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BI Dashboard</a:t>
            </a:r>
            <a:endParaRPr lang="en-US" sz="2300" dirty="0"/>
          </a:p>
        </p:txBody>
      </p:sp>
      <p:sp>
        <p:nvSpPr>
          <p:cNvPr id="15" name="Text 13">
            <a:hlinkClick r:id="rId3"/>
          </p:cNvPr>
          <p:cNvSpPr/>
          <p:nvPr/>
        </p:nvSpPr>
        <p:spPr>
          <a:xfrm>
            <a:off x="8183880" y="49560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u="sng" dirty="0">
                <a:solidFill>
                  <a:srgbClr val="29C7D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bi-dashboard-05-dav-project.vercel.app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658368" y="596188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A4BD"/>
                </a:solidFill>
              </a:rPr>
              <a:t>Review focus: show the implemented system, prove that it runs, and explain the analytical output.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Scope &amp; Project Goal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084"/>
                </a:solidFill>
              </a:rPr>
              <a:t>The review is evaluated on implementation, execution/functionality, and results obtained with analysis.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6187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9224" y="1293876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EVALUATION 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087368" y="126187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42232" y="1293876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EVALUATION 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589520" y="126187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7357B8"/>
          </a:solidFill>
          <a:ln w="12700">
            <a:solidFill>
              <a:srgbClr val="735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44384" y="1293876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EVALUATION 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4360" y="1673352"/>
            <a:ext cx="3063240" cy="425196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087368" y="1673352"/>
            <a:ext cx="3063240" cy="425196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589520" y="1673352"/>
            <a:ext cx="3977640" cy="425196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193852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</a:rPr>
              <a:t>Project Implementation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" y="2423160"/>
            <a:ext cx="2487168" cy="2971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End-to-end BI dashboard artifact implemented as a web application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Data-to-visualization flow designed for organizational performance analysis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Reusable KPI, filter, comparison and reporting structure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Deployed project output available for live demonstration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15968" y="193852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</a:rPr>
              <a:t>Execution &amp; Functionality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315968" y="2423160"/>
            <a:ext cx="2487168" cy="2971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Dashboard loads as a working interface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Interactive views are organized around KPIs and charts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Filters and analytical navigation are part of the workflow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User can move from summary to detailed analysis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45552" y="1938528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</a:rPr>
              <a:t>Results &amp; Analysis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845552" y="2423160"/>
            <a:ext cx="3154680" cy="2971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Visual outputs convert raw records into decision-ready summaries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Trend and comparison views reveal changes across dimensions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Results are interpreted through KPI context, not chart appearance alone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2437"/>
                </a:solidFill>
              </a:rPr>
              <a:t>Performance and quality gaps are identified for next iteration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61447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27084"/>
                </a:solidFill>
              </a:rPr>
              <a:t>Core project question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48840" y="61081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2437"/>
                </a:solidFill>
              </a:rPr>
              <a:t>How can organizational data be transformed into an interactive, reliable and interpretable BI dashboard for practical decision support?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Project Implementation – End-to-End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084"/>
                </a:solidFill>
              </a:rPr>
              <a:t>The implementation separates data handling, analytics logic, visualization and user interaction so each layer can be tested independently.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828800" cy="1965960"/>
          </a:xfrm>
          <a:prstGeom prst="roundRect">
            <a:avLst>
              <a:gd name="adj" fmla="val 7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5528" y="208483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DATA SOURCES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04672" y="2542032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E9F3FA"/>
                </a:solidFill>
              </a:rPr>
              <a:t>Structured records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9F3FA"/>
                </a:solidFill>
              </a:rPr>
              <a:t>CSV / DB / APIs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0" y="2523744"/>
            <a:ext cx="438912" cy="475488"/>
          </a:xfrm>
          <a:prstGeom prst="chevron">
            <a:avLst/>
          </a:prstGeom>
          <a:solidFill>
            <a:srgbClr val="B5C8D9"/>
          </a:solidFill>
          <a:ln w="12700">
            <a:solidFill>
              <a:srgbClr val="B5C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07792" y="1828800"/>
            <a:ext cx="1828800" cy="1965960"/>
          </a:xfrm>
          <a:prstGeom prst="roundRect">
            <a:avLst>
              <a:gd name="adj" fmla="val 7000"/>
            </a:avLst>
          </a:prstGeom>
          <a:solidFill>
            <a:srgbClr val="21466C"/>
          </a:solidFill>
          <a:ln w="12700">
            <a:solidFill>
              <a:srgbClr val="2146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17520" y="208483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PREPROCESSING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26664" y="2542032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E9F3FA"/>
                </a:solidFill>
              </a:rPr>
              <a:t>Validation • cleaning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9F3FA"/>
                </a:solidFill>
              </a:rPr>
              <a:t>transformations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82312" y="2523744"/>
            <a:ext cx="438912" cy="475488"/>
          </a:xfrm>
          <a:prstGeom prst="chevron">
            <a:avLst/>
          </a:prstGeom>
          <a:solidFill>
            <a:srgbClr val="B5C8D9"/>
          </a:solidFill>
          <a:ln w="12700">
            <a:solidFill>
              <a:srgbClr val="B5C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129784" y="1828800"/>
            <a:ext cx="1828800" cy="1965960"/>
          </a:xfrm>
          <a:prstGeom prst="roundRect">
            <a:avLst>
              <a:gd name="adj" fmla="val 7000"/>
            </a:avLst>
          </a:prstGeom>
          <a:solidFill>
            <a:srgbClr val="166D78"/>
          </a:solidFill>
          <a:ln w="12700">
            <a:solidFill>
              <a:srgbClr val="166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39512" y="208483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ANALYTICAL LAYER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48656" y="2542032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E9F3FA"/>
                </a:solidFill>
              </a:rPr>
              <a:t>Dimensions • measures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9F3FA"/>
                </a:solidFill>
              </a:rPr>
              <a:t>KPI logic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004304" y="2523744"/>
            <a:ext cx="438912" cy="475488"/>
          </a:xfrm>
          <a:prstGeom prst="chevron">
            <a:avLst/>
          </a:prstGeom>
          <a:solidFill>
            <a:srgbClr val="B5C8D9"/>
          </a:solidFill>
          <a:ln w="12700">
            <a:solidFill>
              <a:srgbClr val="B5C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51776" y="1828800"/>
            <a:ext cx="1828800" cy="1965960"/>
          </a:xfrm>
          <a:prstGeom prst="roundRect">
            <a:avLst>
              <a:gd name="adj" fmla="val 7000"/>
            </a:avLst>
          </a:prstGeom>
          <a:solidFill>
            <a:srgbClr val="0C8A91"/>
          </a:solidFill>
          <a:ln w="12700">
            <a:solidFill>
              <a:srgbClr val="0C8A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61504" y="208483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BI DASHBOARD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70648" y="2542032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E9F3FA"/>
                </a:solidFill>
              </a:rPr>
              <a:t>KPI cards • charts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9F3FA"/>
                </a:solidFill>
              </a:rPr>
              <a:t>filters • detail views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26296" y="2523744"/>
            <a:ext cx="438912" cy="475488"/>
          </a:xfrm>
          <a:prstGeom prst="chevron">
            <a:avLst/>
          </a:prstGeom>
          <a:solidFill>
            <a:srgbClr val="B5C8D9"/>
          </a:solidFill>
          <a:ln w="12700">
            <a:solidFill>
              <a:srgbClr val="B5C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573768" y="1828800"/>
            <a:ext cx="1828800" cy="1965960"/>
          </a:xfrm>
          <a:prstGeom prst="roundRect">
            <a:avLst>
              <a:gd name="adj" fmla="val 7000"/>
            </a:avLst>
          </a:prstGeom>
          <a:solidFill>
            <a:srgbClr val="5C4B9B"/>
          </a:solidFill>
          <a:ln w="12700">
            <a:solidFill>
              <a:srgbClr val="5C4B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83496" y="208483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DECISION SUPPORT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692640" y="2542032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E9F3FA"/>
                </a:solidFill>
              </a:rPr>
              <a:t>Compare • diagnose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9F3FA"/>
                </a:solidFill>
              </a:rPr>
              <a:t>report • act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05840" y="4251960"/>
            <a:ext cx="1019556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43584" y="4517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A3B1"/>
                </a:solidFill>
              </a:rPr>
              <a:t>Implementation principle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944368" y="4425696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82437"/>
                </a:solidFill>
              </a:rPr>
              <a:t>Business definitions are centralized: the same KPI should return the same value across cards, charts, tables and exports for the same filter context.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051560" y="569671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27084"/>
                </a:solidFill>
              </a:rPr>
              <a:t>Review-2 evidence: architecture demonstrates how the project moves from implementation to an observable dashboard output.</a:t>
            </a:r>
            <a:endParaRPr lang="en-US" sz="10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Project Implementation – Major Modules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084"/>
                </a:solidFill>
              </a:rPr>
              <a:t>The dashboard is presented as a set of focused modules, each responsible for one part of the analytics workflow.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07492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0392" y="1655064"/>
            <a:ext cx="566928" cy="56692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0392" y="176479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5910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</a:rPr>
              <a:t>Data Ingestion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54480" y="18562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084"/>
                </a:solidFill>
              </a:rPr>
              <a:t>Load structured records and retain source context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07492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73952" y="1655064"/>
            <a:ext cx="566928" cy="56692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73952" y="176479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78040" y="15910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</a:rPr>
              <a:t>Data Validation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78040" y="18562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084"/>
                </a:solidFill>
              </a:rPr>
              <a:t>Check completeness, validity, duplicates and consistency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2834640"/>
            <a:ext cx="507492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0392" y="3072384"/>
            <a:ext cx="566928" cy="566928"/>
          </a:xfrm>
          <a:prstGeom prst="ellipse">
            <a:avLst/>
          </a:prstGeom>
          <a:solidFill>
            <a:srgbClr val="7357B8"/>
          </a:solidFill>
          <a:ln w="12700">
            <a:solidFill>
              <a:srgbClr val="735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0392" y="318211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30083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</a:rPr>
              <a:t>KPI Engine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54480" y="32735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084"/>
                </a:solidFill>
              </a:rPr>
              <a:t>Calculate growth, achievement and performance measures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2834640"/>
            <a:ext cx="507492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73952" y="3072384"/>
            <a:ext cx="566928" cy="566928"/>
          </a:xfrm>
          <a:prstGeom prst="ellipse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73952" y="318211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78040" y="30083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</a:rPr>
              <a:t>Visualization Layer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78040" y="32735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084"/>
                </a:solidFill>
              </a:rPr>
              <a:t>Convert measures into charts, tables and trend views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" y="4251960"/>
            <a:ext cx="507492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50392" y="4489704"/>
            <a:ext cx="566928" cy="56692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50392" y="459943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54480" y="44256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</a:rPr>
              <a:t>Interaction Layer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554480" y="46908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084"/>
                </a:solidFill>
              </a:rPr>
              <a:t>Filters, selections, comparisons and drill-down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09360" y="4251960"/>
            <a:ext cx="507492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73952" y="4489704"/>
            <a:ext cx="566928" cy="566928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73952" y="459943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78040" y="44256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</a:rPr>
              <a:t>Reporting Layer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178040" y="46908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084"/>
                </a:solidFill>
              </a:rPr>
              <a:t>Summarize the current analytical state for review/export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14400" y="58064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27084"/>
                </a:solidFill>
              </a:rPr>
              <a:t>Implementation outcome: modularity makes the system easier to validate, debug and extend with forecasting or anomaly analysis later.</a:t>
            </a:r>
            <a:endParaRPr lang="en-US" sz="11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Implementation Details – Tools, Technologies &amp; Engineering Practices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084"/>
                </a:solidFill>
              </a:rPr>
              <a:t>Technology choices are presented at the role level so the review focuses on what each technology contributes to the dashboard.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256032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2560320" cy="10058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0664" y="185623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WEB APPLICATION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304288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82437"/>
                </a:solidFill>
              </a:rPr>
              <a:t>Frontend UI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82437"/>
                </a:solidFill>
              </a:rPr>
              <a:t>Responsive layout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82437"/>
                </a:solidFill>
              </a:rPr>
              <a:t>Component-based structure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600200"/>
            <a:ext cx="256032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74720" y="1600200"/>
            <a:ext cx="2560320" cy="100584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21024" y="185623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DATA &amp; LOGIC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49040" y="2304288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82437"/>
                </a:solidFill>
              </a:rPr>
              <a:t>Data ingestion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82437"/>
                </a:solidFill>
              </a:rPr>
              <a:t>Cleaning &amp; validation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82437"/>
                </a:solidFill>
              </a:rPr>
              <a:t>KPI/business rules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1600200"/>
            <a:ext cx="256032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55080" y="1600200"/>
            <a:ext cx="2560320" cy="100584"/>
          </a:xfrm>
          <a:prstGeom prst="rect">
            <a:avLst/>
          </a:prstGeom>
          <a:solidFill>
            <a:srgbClr val="7357B8"/>
          </a:solidFill>
          <a:ln w="12700">
            <a:solidFill>
              <a:srgbClr val="735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01384" y="185623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VISUAL ANALYTICS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2304288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82437"/>
                </a:solidFill>
              </a:rPr>
              <a:t>Interactive charts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82437"/>
                </a:solidFill>
              </a:rPr>
              <a:t>Tables &amp; comparisons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82437"/>
                </a:solidFill>
              </a:rPr>
              <a:t>Trend representations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235440" y="1600200"/>
            <a:ext cx="256032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235440" y="1600200"/>
            <a:ext cx="2560320" cy="100584"/>
          </a:xfrm>
          <a:prstGeom prst="rect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81744" y="185623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09760" y="2304288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82437"/>
                </a:solidFill>
              </a:rPr>
              <a:t>Cloud deployment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82437"/>
                </a:solidFill>
              </a:rPr>
              <a:t>HTTPS endpoint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82437"/>
                </a:solidFill>
              </a:rPr>
              <a:t>Live project URL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3822192"/>
            <a:ext cx="10954512" cy="1499616"/>
          </a:xfrm>
          <a:prstGeom prst="roundRect">
            <a:avLst>
              <a:gd name="adj" fmla="val 853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409651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C7D6"/>
                </a:solidFill>
              </a:rPr>
              <a:t>Engineering practices emphasized in Review-2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4416552"/>
            <a:ext cx="1001268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E8F1FA"/>
                </a:solidFill>
              </a:rPr>
              <a:t>Centralize KPI definitions to avoid inconsistent calculations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E8F1FA"/>
                </a:solidFill>
              </a:rPr>
              <a:t>Keep large-data processing off the browser where possible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E8F1FA"/>
                </a:solidFill>
              </a:rPr>
              <a:t>Use loading, empty-state and error-state handling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E8F1FA"/>
                </a:solidFill>
              </a:rPr>
              <a:t>Measure web performance before making optimization claims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5800" y="58064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27084"/>
                </a:solidFill>
              </a:rPr>
              <a:t>Deployment endpoint</a:t>
            </a:r>
            <a:endParaRPr lang="en-US" sz="900" dirty="0"/>
          </a:p>
        </p:txBody>
      </p:sp>
      <p:sp>
        <p:nvSpPr>
          <p:cNvPr id="24" name="Text 22">
            <a:hlinkClick r:id="rId3"/>
          </p:cNvPr>
          <p:cNvSpPr/>
          <p:nvPr/>
        </p:nvSpPr>
        <p:spPr>
          <a:xfrm>
            <a:off x="1920240" y="576986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0FA3B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https://bi-dashboard-05-dav-project.vercel.app/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Execution Output – BI Dashboard Interface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084"/>
                </a:solidFill>
              </a:rPr>
              <a:t>Editable recreation of the dashboard output for the review presentation. The live deployment can be opened during the demo.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11045952" cy="4983480"/>
          </a:xfrm>
          <a:prstGeom prst="roundRect">
            <a:avLst>
              <a:gd name="adj" fmla="val 2569"/>
            </a:avLst>
          </a:prstGeom>
          <a:solidFill>
            <a:srgbClr val="EEF3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" y="1234440"/>
            <a:ext cx="1847088" cy="4983480"/>
          </a:xfrm>
          <a:prstGeom prst="rect">
            <a:avLst/>
          </a:prstGeom>
          <a:solidFill>
            <a:srgbClr val="0E2747"/>
          </a:solidFill>
          <a:ln w="12700">
            <a:solidFill>
              <a:srgbClr val="0E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57276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BI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DASHBOARD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58952" y="2450592"/>
            <a:ext cx="1444752" cy="356616"/>
          </a:xfrm>
          <a:prstGeom prst="roundRect">
            <a:avLst>
              <a:gd name="adj" fmla="val 12821"/>
            </a:avLst>
          </a:prstGeom>
          <a:solidFill>
            <a:srgbClr val="16476A"/>
          </a:solidFill>
          <a:ln w="12700">
            <a:solidFill>
              <a:srgbClr val="1647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4871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9C7D6"/>
                </a:solidFill>
              </a:rPr>
              <a:t>Overview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9992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2EF"/>
                </a:solidFill>
              </a:rPr>
              <a:t>Performance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35112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2EF"/>
                </a:solidFill>
              </a:rPr>
              <a:t>Departments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40233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2EF"/>
                </a:solidFill>
              </a:rPr>
              <a:t>Employees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453542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2EF"/>
                </a:solidFill>
              </a:rPr>
              <a:t>Analytics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50474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2EF"/>
                </a:solidFill>
              </a:rPr>
              <a:t>Reports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79192" y="14813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</a:rPr>
              <a:t>Organizational Performance Overview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0104120" y="1463040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158984" y="149504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2026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0844784" y="1463040"/>
            <a:ext cx="612648" cy="256032"/>
          </a:xfrm>
          <a:prstGeom prst="roundRect">
            <a:avLst>
              <a:gd name="adj" fmla="val 28571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899648" y="14950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ALL DEPARTMENTS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33472" y="1874520"/>
            <a:ext cx="1956816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633472" y="1874520"/>
            <a:ext cx="64008" cy="96012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98064" y="2002536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27084"/>
                </a:solidFill>
              </a:rPr>
              <a:t>TOTAL REVENUE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98064" y="2231136"/>
            <a:ext cx="1728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</a:rPr>
              <a:t>₹ —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2798064" y="2551176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8B57"/>
                </a:solidFill>
              </a:rPr>
              <a:t>Current view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0016" y="1874520"/>
            <a:ext cx="1956816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0016" y="1874520"/>
            <a:ext cx="64008" cy="960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64608" y="2002536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27084"/>
                </a:solidFill>
              </a:rPr>
              <a:t>TARGET ACHIEVEMENT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64608" y="2231136"/>
            <a:ext cx="1728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</a:rPr>
              <a:t>— %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4864608" y="2551176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8B57"/>
                </a:solidFill>
              </a:rPr>
              <a:t>Filter aware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766560" y="1874520"/>
            <a:ext cx="1956816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766560" y="1874520"/>
            <a:ext cx="64008" cy="960120"/>
          </a:xfrm>
          <a:prstGeom prst="rect">
            <a:avLst/>
          </a:prstGeom>
          <a:solidFill>
            <a:srgbClr val="7357B8"/>
          </a:solidFill>
          <a:ln w="12700">
            <a:solidFill>
              <a:srgbClr val="735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31152" y="2002536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27084"/>
                </a:solidFill>
              </a:rPr>
              <a:t>PERFORMANCE SCORE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31152" y="2231136"/>
            <a:ext cx="1728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</a:rPr>
              <a:t>—</a:t>
            </a:r>
            <a:endParaRPr lang="en-US" sz="2300" dirty="0"/>
          </a:p>
        </p:txBody>
      </p:sp>
      <p:sp>
        <p:nvSpPr>
          <p:cNvPr id="33" name="Text 31"/>
          <p:cNvSpPr/>
          <p:nvPr/>
        </p:nvSpPr>
        <p:spPr>
          <a:xfrm>
            <a:off x="6931152" y="2551176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8B57"/>
                </a:solidFill>
              </a:rPr>
              <a:t>Normalized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833104" y="1874520"/>
            <a:ext cx="1956816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833104" y="1874520"/>
            <a:ext cx="64008" cy="960120"/>
          </a:xfrm>
          <a:prstGeom prst="rect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997696" y="2002536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27084"/>
                </a:solidFill>
              </a:rPr>
              <a:t>DATA COMPLETENESS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997696" y="2231136"/>
            <a:ext cx="1728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</a:rPr>
              <a:t>— %</a:t>
            </a:r>
            <a:endParaRPr lang="en-US" sz="2300" dirty="0"/>
          </a:p>
        </p:txBody>
      </p:sp>
      <p:sp>
        <p:nvSpPr>
          <p:cNvPr id="38" name="Text 36"/>
          <p:cNvSpPr/>
          <p:nvPr/>
        </p:nvSpPr>
        <p:spPr>
          <a:xfrm>
            <a:off x="8997696" y="2551176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8B57"/>
                </a:solidFill>
              </a:rPr>
              <a:t>Validated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633472" y="3044952"/>
            <a:ext cx="484632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862072" y="32552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</a:rPr>
              <a:t>Performance Trend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2862072" y="3529584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27084"/>
                </a:solidFill>
              </a:rPr>
              <a:t>Trend is interpreted within the active filter and time context.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907792" y="4809744"/>
            <a:ext cx="795528" cy="0"/>
          </a:xfrm>
          <a:prstGeom prst="line">
            <a:avLst/>
          </a:prstGeom>
          <a:noFill/>
          <a:ln w="12700">
            <a:solidFill>
              <a:srgbClr val="0FA3B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703320" y="4572000"/>
            <a:ext cx="722376" cy="137160"/>
          </a:xfrm>
          <a:prstGeom prst="line">
            <a:avLst/>
          </a:prstGeom>
          <a:noFill/>
          <a:ln w="12700">
            <a:solidFill>
              <a:srgbClr val="0FA3B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425696" y="4709160"/>
            <a:ext cx="713232" cy="0"/>
          </a:xfrm>
          <a:prstGeom prst="line">
            <a:avLst/>
          </a:prstGeom>
          <a:noFill/>
          <a:ln w="12700">
            <a:solidFill>
              <a:srgbClr val="0FA3B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138928" y="4279392"/>
            <a:ext cx="694944" cy="137160"/>
          </a:xfrm>
          <a:prstGeom prst="line">
            <a:avLst/>
          </a:prstGeom>
          <a:noFill/>
          <a:ln w="12700">
            <a:solidFill>
              <a:srgbClr val="0FA3B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833872" y="4416552"/>
            <a:ext cx="704088" cy="0"/>
          </a:xfrm>
          <a:prstGeom prst="line">
            <a:avLst/>
          </a:prstGeom>
          <a:noFill/>
          <a:ln w="12700">
            <a:solidFill>
              <a:srgbClr val="0FA3B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537960" y="3931920"/>
            <a:ext cx="704088" cy="109728"/>
          </a:xfrm>
          <a:prstGeom prst="line">
            <a:avLst/>
          </a:prstGeom>
          <a:noFill/>
          <a:ln w="12700">
            <a:solidFill>
              <a:srgbClr val="0FA3B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866644" y="4768596"/>
            <a:ext cx="82296" cy="8229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662172" y="4530852"/>
            <a:ext cx="82296" cy="8229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384548" y="4668012"/>
            <a:ext cx="82296" cy="8229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097780" y="4238244"/>
            <a:ext cx="82296" cy="8229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792724" y="4375404"/>
            <a:ext cx="82296" cy="8229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496812" y="3890772"/>
            <a:ext cx="82296" cy="8229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200900" y="4000500"/>
            <a:ext cx="82296" cy="82296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788920" y="498348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27084"/>
                </a:solidFill>
              </a:rPr>
              <a:t>Q1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502152" y="498348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27084"/>
                </a:solidFill>
              </a:rPr>
              <a:t>Q2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215384" y="498348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27084"/>
                </a:solidFill>
              </a:rPr>
              <a:t>Q3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928616" y="498348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27084"/>
                </a:solidFill>
              </a:rPr>
              <a:t>Q4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641848" y="498348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27084"/>
                </a:solidFill>
              </a:rPr>
              <a:t>Q5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355080" y="498348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27084"/>
                </a:solidFill>
              </a:rPr>
              <a:t>Q6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068312" y="498348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27084"/>
                </a:solidFill>
              </a:rPr>
              <a:t>Q7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653528" y="3044952"/>
            <a:ext cx="3118104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872984" y="32552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</a:rPr>
              <a:t>Department Comparison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7872984" y="371246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82437"/>
                </a:solidFill>
              </a:rPr>
              <a:t>Sales</a:t>
            </a:r>
            <a:endParaRPr lang="en-US" sz="880" dirty="0"/>
          </a:p>
        </p:txBody>
      </p:sp>
      <p:sp>
        <p:nvSpPr>
          <p:cNvPr id="65" name="Shape 63"/>
          <p:cNvSpPr/>
          <p:nvPr/>
        </p:nvSpPr>
        <p:spPr>
          <a:xfrm>
            <a:off x="8705088" y="3721608"/>
            <a:ext cx="1536192" cy="155448"/>
          </a:xfrm>
          <a:prstGeom prst="roundRect">
            <a:avLst>
              <a:gd name="adj" fmla="val 23529"/>
            </a:avLst>
          </a:prstGeom>
          <a:solidFill>
            <a:srgbClr val="E6EDF4"/>
          </a:solidFill>
          <a:ln w="12700">
            <a:solidFill>
              <a:srgbClr val="E6E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705088" y="3721608"/>
            <a:ext cx="1428659" cy="155448"/>
          </a:xfrm>
          <a:prstGeom prst="roundRect">
            <a:avLst>
              <a:gd name="adj" fmla="val 23529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7872984" y="4087368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82437"/>
                </a:solidFill>
              </a:rPr>
              <a:t>Engineering</a:t>
            </a:r>
            <a:endParaRPr lang="en-US" sz="880" dirty="0"/>
          </a:p>
        </p:txBody>
      </p:sp>
      <p:sp>
        <p:nvSpPr>
          <p:cNvPr id="68" name="Shape 66"/>
          <p:cNvSpPr/>
          <p:nvPr/>
        </p:nvSpPr>
        <p:spPr>
          <a:xfrm>
            <a:off x="8705088" y="4096512"/>
            <a:ext cx="1536192" cy="155448"/>
          </a:xfrm>
          <a:prstGeom prst="roundRect">
            <a:avLst>
              <a:gd name="adj" fmla="val 23529"/>
            </a:avLst>
          </a:prstGeom>
          <a:solidFill>
            <a:srgbClr val="E6EDF4"/>
          </a:solidFill>
          <a:ln w="12700">
            <a:solidFill>
              <a:srgbClr val="E6E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8705088" y="4096512"/>
            <a:ext cx="1198230" cy="155448"/>
          </a:xfrm>
          <a:prstGeom prst="roundRect">
            <a:avLst>
              <a:gd name="adj" fmla="val 23529"/>
            </a:avLst>
          </a:prstGeom>
          <a:solidFill>
            <a:srgbClr val="7357B8"/>
          </a:solidFill>
          <a:ln w="12700">
            <a:solidFill>
              <a:srgbClr val="735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872984" y="446227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82437"/>
                </a:solidFill>
              </a:rPr>
              <a:t>Finance</a:t>
            </a:r>
            <a:endParaRPr lang="en-US" sz="880" dirty="0"/>
          </a:p>
        </p:txBody>
      </p:sp>
      <p:sp>
        <p:nvSpPr>
          <p:cNvPr id="71" name="Shape 69"/>
          <p:cNvSpPr/>
          <p:nvPr/>
        </p:nvSpPr>
        <p:spPr>
          <a:xfrm>
            <a:off x="8705088" y="4471416"/>
            <a:ext cx="1536192" cy="155448"/>
          </a:xfrm>
          <a:prstGeom prst="roundRect">
            <a:avLst>
              <a:gd name="adj" fmla="val 23529"/>
            </a:avLst>
          </a:prstGeom>
          <a:solidFill>
            <a:srgbClr val="E6EDF4"/>
          </a:solidFill>
          <a:ln w="12700">
            <a:solidFill>
              <a:srgbClr val="E6E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8705088" y="4471416"/>
            <a:ext cx="1013887" cy="155448"/>
          </a:xfrm>
          <a:prstGeom prst="roundRect">
            <a:avLst>
              <a:gd name="adj" fmla="val 23529"/>
            </a:avLst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7872984" y="4837176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82437"/>
                </a:solidFill>
              </a:rPr>
              <a:t>HR</a:t>
            </a:r>
            <a:endParaRPr lang="en-US" sz="880" dirty="0"/>
          </a:p>
        </p:txBody>
      </p:sp>
      <p:sp>
        <p:nvSpPr>
          <p:cNvPr id="74" name="Shape 72"/>
          <p:cNvSpPr/>
          <p:nvPr/>
        </p:nvSpPr>
        <p:spPr>
          <a:xfrm>
            <a:off x="8705088" y="4846320"/>
            <a:ext cx="1536192" cy="155448"/>
          </a:xfrm>
          <a:prstGeom prst="roundRect">
            <a:avLst>
              <a:gd name="adj" fmla="val 23529"/>
            </a:avLst>
          </a:prstGeom>
          <a:solidFill>
            <a:srgbClr val="E6EDF4"/>
          </a:solidFill>
          <a:ln w="12700">
            <a:solidFill>
              <a:srgbClr val="E6ED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8705088" y="4846320"/>
            <a:ext cx="890991" cy="155448"/>
          </a:xfrm>
          <a:prstGeom prst="roundRect">
            <a:avLst>
              <a:gd name="adj" fmla="val 23529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2633472" y="5541264"/>
            <a:ext cx="8138160" cy="466344"/>
          </a:xfrm>
          <a:prstGeom prst="roundRect">
            <a:avLst>
              <a:gd name="adj" fmla="val 27451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2834640" y="5678424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</a:rPr>
              <a:t>Insight workflow: KPI → filter/compare → drill down → explain the change → report</a:t>
            </a:r>
            <a:endParaRPr lang="en-US" sz="950" dirty="0"/>
          </a:p>
        </p:txBody>
      </p:sp>
      <p:sp>
        <p:nvSpPr>
          <p:cNvPr id="7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4A2D4-C1A6-1E62-0DD4-DD01199AD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3F78FFC-B78E-57FA-6F03-75A3BD5D146A}"/>
              </a:ext>
            </a:extLst>
          </p:cNvPr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Comparative Analysis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2FDDAA5-AB77-B4EE-04FA-DA42D6AE82C4}"/>
              </a:ext>
            </a:extLst>
          </p:cNvPr>
          <p:cNvSpPr/>
          <p:nvPr/>
        </p:nvSpPr>
        <p:spPr>
          <a:xfrm>
            <a:off x="722376" y="1536192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Output area</a:t>
            </a:r>
            <a:endParaRPr lang="en-US" sz="11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19A1832-1AA5-8CC2-CCC4-F99F972D4471}"/>
              </a:ext>
            </a:extLst>
          </p:cNvPr>
          <p:cNvSpPr/>
          <p:nvPr/>
        </p:nvSpPr>
        <p:spPr>
          <a:xfrm>
            <a:off x="2679005" y="1536192"/>
            <a:ext cx="4178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Observed result</a:t>
            </a:r>
            <a:endParaRPr lang="en-US" sz="11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5C616F1-665A-F301-9237-BDECDCF00C48}"/>
              </a:ext>
            </a:extLst>
          </p:cNvPr>
          <p:cNvSpPr/>
          <p:nvPr/>
        </p:nvSpPr>
        <p:spPr>
          <a:xfrm>
            <a:off x="7031736" y="1536192"/>
            <a:ext cx="3721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Analysis / value</a:t>
            </a:r>
            <a:endParaRPr lang="en-US" sz="115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B3AC597F-6FC5-77BC-79B4-85CDC537F571}"/>
              </a:ext>
            </a:extLst>
          </p:cNvPr>
          <p:cNvSpPr/>
          <p:nvPr/>
        </p:nvSpPr>
        <p:spPr>
          <a:xfrm>
            <a:off x="850392" y="5943600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5A17"/>
                </a:solidFill>
              </a:rPr>
              <a:t>Publication integrity note: no fabricated accuracy, latency or user-study values are shown here. Those measurements should be added after controlled testing.</a:t>
            </a:r>
            <a:endParaRPr lang="en-US" sz="950" dirty="0"/>
          </a:p>
        </p:txBody>
      </p:sp>
      <p:sp>
        <p:nvSpPr>
          <p:cNvPr id="42" name="Slide Number Placeholder 0">
            <a:extLst>
              <a:ext uri="{FF2B5EF4-FFF2-40B4-BE49-F238E27FC236}">
                <a16:creationId xmlns:a16="http://schemas.microsoft.com/office/drawing/2014/main" id="{E8EE83A4-E3BF-C145-2D44-7570A2DAA6C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7BBA0CB0-CA38-95F2-4C91-E494BA3C7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413" y="858417"/>
            <a:ext cx="9638957" cy="541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034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Results — Observed Dashboard 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Values transcribed from the current project output captures supplied with Review-2.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22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34440"/>
          <a:ext cx="110642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Observed metric</a:t>
                      </a:r>
                    </a:p>
                  </a:txBody>
                  <a:tcPr>
                    <a:solidFill>
                      <a:srgbClr val="1137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137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Dashboard evidence</a:t>
                      </a:r>
                    </a:p>
                  </a:txBody>
                  <a:tcPr>
                    <a:solidFill>
                      <a:srgbClr val="11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Total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₹23,31,50,101.47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Executive / 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Orders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12,500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Average order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₹18,652.01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Quota achievement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94%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Net profit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₹10,07,11,852.06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Executive / 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Net profit margin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43.2%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Executive / Finance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Operating expense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₹7,82,28,509.72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Net cash flow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₹6,11,46,190.12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Finance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Revenue 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+100.4%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Executive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Marketing ROI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9726.7%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Business Insights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852160"/>
            <a:ext cx="1069848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000" b="0">
                <a:solidFill>
                  <a:srgbClr val="5F6E82"/>
                </a:solidFill>
              </a:defRPr>
            </a:pPr>
            <a:r>
              <a:t>Interpretation: these are artifact-observable business results; they are not substituted for controlled ML accuracy or web-performance benchmarks.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Proposed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The new HEWDF layer is explicitly located after analytics generation and before recommendation/decision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B5490F-5488-E528-A771-2684B93ED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983" y="1154320"/>
            <a:ext cx="7625810" cy="50818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13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5DBFF"/>
                </a:solidFill>
                <a:latin typeface="Aptos"/>
              </a:rPr>
              <a:t>ACTUAL PROJECT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365863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dirty="0">
                <a:solidFill>
                  <a:srgbClr val="122339"/>
                </a:solidFill>
                <a:latin typeface="Aptos Display"/>
              </a:rPr>
              <a:t>Live Dashboard Evidence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234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30">
                <a:solidFill>
                  <a:srgbClr val="58687D"/>
                </a:solidFill>
                <a:latin typeface="Aptos"/>
              </a:rPr>
              <a:t>Four captured screens from the deployed BI dashboard show implementation, execution, and analytical outputs.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45920"/>
            <a:ext cx="566928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xecu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1700784"/>
            <a:ext cx="5559552" cy="16276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3419856"/>
            <a:ext cx="5669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58687D"/>
                </a:solidFill>
                <a:latin typeface="Aptos"/>
              </a:rPr>
              <a:t>Executive BI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66928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700784"/>
            <a:ext cx="5559552" cy="16276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3419856"/>
            <a:ext cx="5669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58687D"/>
                </a:solidFill>
                <a:latin typeface="Aptos"/>
              </a:rPr>
              <a:t>Sales &amp; Revenue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657600"/>
            <a:ext cx="566928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fin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" y="3712464"/>
            <a:ext cx="5559552" cy="16276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11480" y="5431536"/>
            <a:ext cx="5669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58687D"/>
                </a:solidFill>
                <a:latin typeface="Aptos"/>
              </a:rPr>
              <a:t>Finance &amp; Cash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657600"/>
            <a:ext cx="566928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nsigh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3712464"/>
            <a:ext cx="5559552" cy="16276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17920" y="5431536"/>
            <a:ext cx="5669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58687D"/>
                </a:solidFill>
                <a:latin typeface="Aptos"/>
              </a:rPr>
              <a:t>Business Insights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13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5DBFF"/>
                </a:solidFill>
                <a:latin typeface="Aptos"/>
              </a:rPr>
              <a:t>DASHBOARD SCREEN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339"/>
                </a:solidFill>
                <a:latin typeface="Aptos Display"/>
              </a:rPr>
              <a:t>Executive BI — Organizational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234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30">
                <a:solidFill>
                  <a:srgbClr val="58687D"/>
                </a:solidFill>
                <a:latin typeface="Aptos"/>
              </a:rPr>
              <a:t>High-level KPI monitoring and cross-departmental decision support.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627632"/>
            <a:ext cx="8366760" cy="3858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xecu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682496"/>
            <a:ext cx="8257032" cy="3749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4048" y="5522976"/>
            <a:ext cx="8366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58687D"/>
                </a:solidFill>
                <a:latin typeface="Aptos"/>
              </a:rPr>
              <a:t>Captured Executive Performance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42832" y="169164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42832" y="1691640"/>
            <a:ext cx="64008" cy="914400"/>
          </a:xfrm>
          <a:prstGeom prst="rect">
            <a:avLst/>
          </a:prstGeom>
          <a:solidFill>
            <a:srgbClr val="2F6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07424" y="180136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KPI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424" y="2103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Revenue, profit, margin, growth, customer value and employee productivity are visible in one executive 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2832" y="274320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42832" y="2743200"/>
            <a:ext cx="64008" cy="914400"/>
          </a:xfrm>
          <a:prstGeom prst="rect">
            <a:avLst/>
          </a:prstGeom>
          <a:solidFill>
            <a:srgbClr val="18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07424" y="285292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Global filtering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424" y="3154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Date, region, department, category and customer-segment filters provide a shared analytical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2832" y="379476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42832" y="3794760"/>
            <a:ext cx="64008" cy="91440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07424" y="390448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Decision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42062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Revenue/profit trend and revenue contribution visuals support deeper analysis.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4892040"/>
            <a:ext cx="2651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3665"/>
                </a:solidFill>
                <a:latin typeface="Aptos"/>
              </a:rPr>
              <a:t>What to demonstrate</a:t>
            </a:r>
          </a:p>
          <a:p>
            <a:pPr>
              <a:spcAft>
                <a:spcPts val="300"/>
              </a:spcAft>
              <a:defRPr sz="969">
                <a:solidFill>
                  <a:srgbClr val="122339"/>
                </a:solidFill>
                <a:latin typeface="Aptos"/>
              </a:defRPr>
            </a:pPr>
            <a:r>
              <a:t>• Use during the live demo.</a:t>
            </a:r>
          </a:p>
          <a:p>
            <a:pPr>
              <a:spcAft>
                <a:spcPts val="300"/>
              </a:spcAft>
              <a:defRPr sz="969">
                <a:solidFill>
                  <a:srgbClr val="122339"/>
                </a:solidFill>
                <a:latin typeface="Aptos"/>
              </a:defRPr>
            </a:pPr>
            <a:r>
              <a:t>• Point to the KPI/visuals and explain the analytical purpose.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13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5DBFF"/>
                </a:solidFill>
                <a:latin typeface="Aptos"/>
              </a:rPr>
              <a:t>DASHBOARD SCREEN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339"/>
                </a:solidFill>
                <a:latin typeface="Aptos Display"/>
              </a:rPr>
              <a:t>Sales &amp; Revenue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234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30">
                <a:solidFill>
                  <a:srgbClr val="58687D"/>
                </a:solidFill>
                <a:latin typeface="Aptos"/>
              </a:rPr>
              <a:t>Revenue, orders, average order value and quota-achievement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627632"/>
            <a:ext cx="8366760" cy="3858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682496"/>
            <a:ext cx="8257032" cy="3749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4048" y="5522976"/>
            <a:ext cx="8366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58687D"/>
                </a:solidFill>
                <a:latin typeface="Aptos"/>
              </a:rPr>
              <a:t>Captured Sales &amp; Revenue Operations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42832" y="169164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42832" y="1691640"/>
            <a:ext cx="64008" cy="914400"/>
          </a:xfrm>
          <a:prstGeom prst="rect">
            <a:avLst/>
          </a:prstGeom>
          <a:solidFill>
            <a:srgbClr val="2F6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07424" y="180136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Core 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424" y="2103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Sales revenue ₹23,31,50,101.47 • 12,500 orders • AOV ₹18,652.01 • quota achievement 94%.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2832" y="274320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42832" y="2743200"/>
            <a:ext cx="64008" cy="914400"/>
          </a:xfrm>
          <a:prstGeom prst="rect">
            <a:avLst/>
          </a:prstGeom>
          <a:solidFill>
            <a:srgbClr val="18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07424" y="285292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424" y="3154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Monthly actual revenue is compared against sales quota for target tracking.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2832" y="379476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42832" y="3794760"/>
            <a:ext cx="64008" cy="91440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07424" y="390448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Performance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42062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Leaderboard and customer-segment views support sales-team and market-segment analysis.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4892040"/>
            <a:ext cx="2651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3665"/>
                </a:solidFill>
                <a:latin typeface="Aptos"/>
              </a:rPr>
              <a:t>What to demonstrate</a:t>
            </a:r>
          </a:p>
          <a:p>
            <a:pPr>
              <a:spcAft>
                <a:spcPts val="300"/>
              </a:spcAft>
              <a:defRPr sz="969">
                <a:solidFill>
                  <a:srgbClr val="122339"/>
                </a:solidFill>
                <a:latin typeface="Aptos"/>
              </a:defRPr>
            </a:pPr>
            <a:r>
              <a:t>• Use during the live demo.</a:t>
            </a:r>
          </a:p>
          <a:p>
            <a:pPr>
              <a:spcAft>
                <a:spcPts val="300"/>
              </a:spcAft>
              <a:defRPr sz="969">
                <a:solidFill>
                  <a:srgbClr val="122339"/>
                </a:solidFill>
                <a:latin typeface="Aptos"/>
              </a:defRPr>
            </a:pPr>
            <a:r>
              <a:t>• Point to the KPI/visuals and explain the analytical purpose.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13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5DBFF"/>
                </a:solidFill>
                <a:latin typeface="Aptos"/>
              </a:rPr>
              <a:t>DASHBOARD SCREEN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339"/>
                </a:solidFill>
                <a:latin typeface="Aptos Display"/>
              </a:rPr>
              <a:t>Financial &amp; Cash Flow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234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30">
                <a:solidFill>
                  <a:srgbClr val="58687D"/>
                </a:solidFill>
                <a:latin typeface="Aptos"/>
              </a:rPr>
              <a:t>P&amp;L, operating expenditure, profit margin and cash-flow visibility.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627632"/>
            <a:ext cx="8366760" cy="3858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682496"/>
            <a:ext cx="8257032" cy="3749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4048" y="5522976"/>
            <a:ext cx="8366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58687D"/>
                </a:solidFill>
                <a:latin typeface="Aptos"/>
              </a:rPr>
              <a:t>Captured Financial &amp; Cash Flow Analytics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42832" y="169164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42832" y="1691640"/>
            <a:ext cx="64008" cy="914400"/>
          </a:xfrm>
          <a:prstGeom prst="rect">
            <a:avLst/>
          </a:prstGeom>
          <a:solidFill>
            <a:srgbClr val="2F6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07424" y="180136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Financial KPIs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424" y="2103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Gross revenue ₹23,31,50,101.47 • operating expense ₹7,82,28,509.72 • net profit ₹10,07,11,852.06.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2832" y="274320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42832" y="2743200"/>
            <a:ext cx="64008" cy="914400"/>
          </a:xfrm>
          <a:prstGeom prst="rect">
            <a:avLst/>
          </a:prstGeom>
          <a:solidFill>
            <a:srgbClr val="18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07424" y="285292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Profitability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424" y="3154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Profit margin is displayed at 43.2% alongside the trend view.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2832" y="379476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42832" y="3794760"/>
            <a:ext cx="64008" cy="91440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07424" y="390448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Cash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42062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Net cash flow is shown as ₹6,11,46,190.12 with an operating-expense breakdown.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4892040"/>
            <a:ext cx="2651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3665"/>
                </a:solidFill>
                <a:latin typeface="Aptos"/>
              </a:rPr>
              <a:t>What to demonstrate</a:t>
            </a:r>
          </a:p>
          <a:p>
            <a:pPr>
              <a:spcAft>
                <a:spcPts val="300"/>
              </a:spcAft>
              <a:defRPr sz="969">
                <a:solidFill>
                  <a:srgbClr val="122339"/>
                </a:solidFill>
                <a:latin typeface="Aptos"/>
              </a:defRPr>
            </a:pPr>
            <a:r>
              <a:t>• Use during the live demo.</a:t>
            </a:r>
          </a:p>
          <a:p>
            <a:pPr>
              <a:spcAft>
                <a:spcPts val="300"/>
              </a:spcAft>
              <a:defRPr sz="969">
                <a:solidFill>
                  <a:srgbClr val="122339"/>
                </a:solidFill>
                <a:latin typeface="Aptos"/>
              </a:defRPr>
            </a:pPr>
            <a:r>
              <a:t>• Point to the KPI/visuals and explain the analytical purpose.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13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5DBFF"/>
                </a:solidFill>
                <a:latin typeface="Aptos"/>
              </a:rPr>
              <a:t>DASHBOARD SCREEN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339"/>
                </a:solidFill>
                <a:latin typeface="Aptos Display"/>
              </a:rPr>
              <a:t>Automated Business Insights &amp;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234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30">
                <a:solidFill>
                  <a:srgbClr val="58687D"/>
                </a:solidFill>
                <a:latin typeface="Aptos"/>
              </a:rPr>
              <a:t>Evidence-driven findings, contextual metrics, estimated impact and strategic 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627632"/>
            <a:ext cx="8366760" cy="3858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ns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682496"/>
            <a:ext cx="8257032" cy="3749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4048" y="5522976"/>
            <a:ext cx="8366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58687D"/>
                </a:solidFill>
                <a:latin typeface="Aptos"/>
              </a:rPr>
              <a:t>Captured Automated Business Insights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42832" y="169164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42832" y="1691640"/>
            <a:ext cx="64008" cy="914400"/>
          </a:xfrm>
          <a:prstGeom prst="rect">
            <a:avLst/>
          </a:prstGeom>
          <a:solidFill>
            <a:srgbClr val="2F6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07424" y="180136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Regional margin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424" y="2103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Middle East &amp; Africa: ₹48,279,757 revenue and 43.0% margin; compared with Latin America at 43.4%.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2832" y="274320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42832" y="2743200"/>
            <a:ext cx="64008" cy="914400"/>
          </a:xfrm>
          <a:prstGeom prst="rect">
            <a:avLst/>
          </a:prstGeom>
          <a:solidFill>
            <a:srgbClr val="18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07424" y="285292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Marketing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424" y="3154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Events &amp; Webinars is shown with 9726.7% marketing ROI plus revenue, spend and CAC evidence.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2832" y="379476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42832" y="3794760"/>
            <a:ext cx="64008" cy="91440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07424" y="390448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22339"/>
                </a:solidFill>
                <a:latin typeface="Aptos"/>
              </a:rPr>
              <a:t>Recommendation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42062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58687D"/>
                </a:solidFill>
                <a:latin typeface="Aptos"/>
              </a:rPr>
              <a:t>Each insight is structured as finding/context → empirical evidence → estimated impact → recommended action.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4892040"/>
            <a:ext cx="2651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3665"/>
                </a:solidFill>
                <a:latin typeface="Aptos"/>
              </a:rPr>
              <a:t>What to demonstrate</a:t>
            </a:r>
          </a:p>
          <a:p>
            <a:pPr>
              <a:spcAft>
                <a:spcPts val="300"/>
              </a:spcAft>
              <a:defRPr sz="969">
                <a:solidFill>
                  <a:srgbClr val="122339"/>
                </a:solidFill>
                <a:latin typeface="Aptos"/>
              </a:defRPr>
            </a:pPr>
            <a:r>
              <a:t>• Use during the live demo.</a:t>
            </a:r>
          </a:p>
          <a:p>
            <a:pPr>
              <a:spcAft>
                <a:spcPts val="300"/>
              </a:spcAft>
              <a:defRPr sz="969">
                <a:solidFill>
                  <a:srgbClr val="122339"/>
                </a:solidFill>
                <a:latin typeface="Aptos"/>
              </a:defRPr>
            </a:pPr>
            <a:r>
              <a:t>• Point to the KPI/visuals and explain the analytical purpose.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Execution &amp; Functionality – Demonstration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084"/>
                </a:solidFill>
              </a:rPr>
              <a:t>This is the sequence to follow during the live Review-2 demonstration.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29184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627632"/>
            <a:ext cx="566928" cy="56692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6276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</a:rPr>
              <a:t>Open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54480" y="1956816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084"/>
                </a:solidFill>
              </a:rPr>
              <a:t>Launch the deployed BI dashboard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61688" y="1417320"/>
            <a:ext cx="329184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26280" y="1627632"/>
            <a:ext cx="566928" cy="56692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26280" y="174650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57800" y="16276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</a:rPr>
              <a:t>Inspect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257800" y="1956816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084"/>
                </a:solidFill>
              </a:rPr>
              <a:t>Read KPIs and current dashboard state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65008" y="1417320"/>
            <a:ext cx="329184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0" y="1627632"/>
            <a:ext cx="566928" cy="566928"/>
          </a:xfrm>
          <a:prstGeom prst="ellipse">
            <a:avLst/>
          </a:prstGeom>
          <a:solidFill>
            <a:srgbClr val="7357B8"/>
          </a:solidFill>
          <a:ln w="12700">
            <a:solidFill>
              <a:srgbClr val="735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0" y="174650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0" y="16276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</a:rPr>
              <a:t>Filter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961120" y="1956816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084"/>
                </a:solidFill>
              </a:rPr>
              <a:t>Change time / organizational context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" y="3474720"/>
            <a:ext cx="329184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" y="3685032"/>
            <a:ext cx="566928" cy="566928"/>
          </a:xfrm>
          <a:prstGeom prst="ellipse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380390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54480" y="36850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</a:rPr>
              <a:t>Compare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554480" y="4014216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084"/>
                </a:solidFill>
              </a:rPr>
              <a:t>Identify differences across units or periods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61688" y="3474720"/>
            <a:ext cx="329184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26280" y="3685032"/>
            <a:ext cx="566928" cy="56692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26280" y="380390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36850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</a:rPr>
              <a:t>Drill Down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257800" y="4014216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084"/>
                </a:solidFill>
              </a:rPr>
              <a:t>Move from summary to detailed records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65008" y="3474720"/>
            <a:ext cx="329184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29600" y="3685032"/>
            <a:ext cx="566928" cy="566928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229600" y="380390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961120" y="36850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</a:rPr>
              <a:t>Report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961120" y="4014216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084"/>
                </a:solidFill>
              </a:rPr>
              <a:t>Explain result and export/share the view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991088" y="1783080"/>
            <a:ext cx="411480" cy="411480"/>
          </a:xfrm>
          <a:prstGeom prst="chevron">
            <a:avLst/>
          </a:prstGeom>
          <a:solidFill>
            <a:srgbClr val="29C7D6"/>
          </a:solidFill>
          <a:ln w="12700">
            <a:solidFill>
              <a:srgbClr val="29C7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51560" y="57790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27084"/>
                </a:solidFill>
              </a:rPr>
              <a:t>Live demo cue: keep the dashboard open on one screen and this slide on the presentation timeline so the evaluator can map each action to the function under review.</a:t>
            </a:r>
            <a:endParaRPr lang="en-US" sz="10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Execution &amp; Functionality – What the Dashboard Delivers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084"/>
                </a:solidFill>
              </a:rPr>
              <a:t>Core functions are grouped by the analytical job they help the user perform.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011680" cy="2139696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2011680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6656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</a:rPr>
              <a:t>MONITOR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4672" y="2249424"/>
            <a:ext cx="15270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82437"/>
                </a:solidFill>
              </a:rPr>
              <a:t>KPI cards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82437"/>
                </a:solidFill>
              </a:rPr>
              <a:t>Current state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82437"/>
                </a:solidFill>
              </a:rPr>
              <a:t>Trend indicators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335024" y="3172968"/>
            <a:ext cx="475488" cy="256032"/>
          </a:xfrm>
          <a:prstGeom prst="chevron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843784" y="1481328"/>
            <a:ext cx="2011680" cy="2139696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843784" y="1481328"/>
            <a:ext cx="2011680" cy="73152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53512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</a:rPr>
              <a:t>FILTER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081528" y="2249424"/>
            <a:ext cx="15270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82437"/>
                </a:solidFill>
              </a:rPr>
              <a:t>Time period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82437"/>
                </a:solidFill>
              </a:rPr>
              <a:t>Department / unit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82437"/>
                </a:solidFill>
              </a:rPr>
              <a:t>Context reset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11880" y="3172968"/>
            <a:ext cx="475488" cy="256032"/>
          </a:xfrm>
          <a:prstGeom prst="chevron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120640" y="1481328"/>
            <a:ext cx="2011680" cy="2139696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20640" y="1481328"/>
            <a:ext cx="2011680" cy="73152"/>
          </a:xfrm>
          <a:prstGeom prst="rect">
            <a:avLst/>
          </a:prstGeom>
          <a:solidFill>
            <a:srgbClr val="7357B8"/>
          </a:solidFill>
          <a:ln w="12700">
            <a:solidFill>
              <a:srgbClr val="735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30368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</a:rPr>
              <a:t>COMPARE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358384" y="2249424"/>
            <a:ext cx="15270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82437"/>
                </a:solidFill>
              </a:rPr>
              <a:t>Period vs period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82437"/>
                </a:solidFill>
              </a:rPr>
              <a:t>Unit vs unit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82437"/>
                </a:solidFill>
              </a:rPr>
              <a:t>Target vs actual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88736" y="3172968"/>
            <a:ext cx="475488" cy="256032"/>
          </a:xfrm>
          <a:prstGeom prst="chevron">
            <a:avLst/>
          </a:prstGeom>
          <a:solidFill>
            <a:srgbClr val="7357B8"/>
          </a:solidFill>
          <a:ln w="12700">
            <a:solidFill>
              <a:srgbClr val="735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97496" y="1481328"/>
            <a:ext cx="2011680" cy="2139696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97496" y="1481328"/>
            <a:ext cx="2011680" cy="73152"/>
          </a:xfrm>
          <a:prstGeom prst="rect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07224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</a:rPr>
              <a:t>DIAGNOSE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635240" y="2249424"/>
            <a:ext cx="15270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82437"/>
                </a:solidFill>
              </a:rPr>
              <a:t>Drill-down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82437"/>
                </a:solidFill>
              </a:rPr>
              <a:t>Segment contribution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82437"/>
                </a:solidFill>
              </a:rPr>
              <a:t>Supporting table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65592" y="3172968"/>
            <a:ext cx="475488" cy="256032"/>
          </a:xfrm>
          <a:prstGeom prst="chevron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674352" y="1481328"/>
            <a:ext cx="2011680" cy="2139696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674352" y="1481328"/>
            <a:ext cx="2011680" cy="7315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784080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</a:rPr>
              <a:t>COMMUNICATE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912096" y="2249424"/>
            <a:ext cx="15270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82437"/>
                </a:solidFill>
              </a:rPr>
              <a:t>Summary view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82437"/>
                </a:solidFill>
              </a:rPr>
              <a:t>Export / report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82437"/>
                </a:solidFill>
              </a:rPr>
              <a:t>Decision context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442448" y="3172968"/>
            <a:ext cx="475488" cy="256032"/>
          </a:xfrm>
          <a:prstGeom prst="chevron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66928" y="3977640"/>
            <a:ext cx="10954512" cy="1517904"/>
          </a:xfrm>
          <a:prstGeom prst="roundRect">
            <a:avLst>
              <a:gd name="adj" fmla="val 8434"/>
            </a:avLst>
          </a:prstGeom>
          <a:solidFill>
            <a:srgbClr val="EDF7F8"/>
          </a:solidFill>
          <a:ln w="12700">
            <a:solidFill>
              <a:srgbClr val="B7E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8680" y="427024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A3B1"/>
                </a:solidFill>
              </a:rPr>
              <a:t>Functionality validation logic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852928" y="4169664"/>
            <a:ext cx="8183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82437"/>
                </a:solidFill>
              </a:rPr>
              <a:t>A valid filter must change every linked visual consistently. A valid KPI must match an independent calculation. A valid drill-down must preserve context. A valid report must reflect the active filter state.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8368" y="580644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</a:rPr>
              <a:t>Result: the dashboard is evaluated as a workflow, not as a collection of disconnected charts.</a:t>
            </a:r>
            <a:endParaRPr lang="en-US" sz="10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Results Obtained – Implemented Dashboard Output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084"/>
                </a:solidFill>
              </a:rPr>
              <a:t>Results are presented as observed analytical outputs rather than unsupported numerical claims.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965960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22376" y="1536192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Output area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606040" y="1417320"/>
            <a:ext cx="4343400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88336" y="1536192"/>
            <a:ext cx="4178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Observed result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949440" y="1417320"/>
            <a:ext cx="3886200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031736" y="1536192"/>
            <a:ext cx="3721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Analysis / value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1847088"/>
            <a:ext cx="1965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22376" y="1975104"/>
            <a:ext cx="1801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KPI overview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06040" y="1847088"/>
            <a:ext cx="4343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88336" y="1975104"/>
            <a:ext cx="4178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437"/>
                </a:solidFill>
              </a:rPr>
              <a:t>Consolidated performance indicators in a single view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49440" y="1847088"/>
            <a:ext cx="38862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31736" y="1975104"/>
            <a:ext cx="3721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437"/>
                </a:solidFill>
              </a:rPr>
              <a:t>Reduces the need to assemble separate reports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615184"/>
            <a:ext cx="1965960" cy="768096"/>
          </a:xfrm>
          <a:prstGeom prst="rect">
            <a:avLst/>
          </a:prstGeom>
          <a:solidFill>
            <a:srgbClr val="F5F8FB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2376" y="2743200"/>
            <a:ext cx="1801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Trend analysis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606040" y="2615184"/>
            <a:ext cx="4343400" cy="768096"/>
          </a:xfrm>
          <a:prstGeom prst="rect">
            <a:avLst/>
          </a:prstGeom>
          <a:solidFill>
            <a:srgbClr val="F5F8FB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88336" y="2743200"/>
            <a:ext cx="4178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437"/>
                </a:solidFill>
              </a:rPr>
              <a:t>Time-based visualization of changing performance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49440" y="2615184"/>
            <a:ext cx="3886200" cy="768096"/>
          </a:xfrm>
          <a:prstGeom prst="rect">
            <a:avLst/>
          </a:prstGeom>
          <a:solidFill>
            <a:srgbClr val="F5F8FB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31736" y="2743200"/>
            <a:ext cx="3721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437"/>
                </a:solidFill>
              </a:rPr>
              <a:t>Makes direction and turning points easier to inspect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383280"/>
            <a:ext cx="1965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22376" y="3511296"/>
            <a:ext cx="1801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Comparison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606040" y="3383280"/>
            <a:ext cx="4343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688336" y="3511296"/>
            <a:ext cx="4178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437"/>
                </a:solidFill>
              </a:rPr>
              <a:t>Cross-unit / cross-period comparison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49440" y="3383280"/>
            <a:ext cx="38862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31736" y="3511296"/>
            <a:ext cx="3721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437"/>
                </a:solidFill>
              </a:rPr>
              <a:t>Helps identify relative under- and over-performance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151376"/>
            <a:ext cx="1965960" cy="768096"/>
          </a:xfrm>
          <a:prstGeom prst="rect">
            <a:avLst/>
          </a:prstGeom>
          <a:solidFill>
            <a:srgbClr val="F5F8FB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22376" y="4279392"/>
            <a:ext cx="1801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Interactive context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606040" y="4151376"/>
            <a:ext cx="4343400" cy="768096"/>
          </a:xfrm>
          <a:prstGeom prst="rect">
            <a:avLst/>
          </a:prstGeom>
          <a:solidFill>
            <a:srgbClr val="F5F8FB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688336" y="4279392"/>
            <a:ext cx="4178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437"/>
                </a:solidFill>
              </a:rPr>
              <a:t>Filter-driven analytical views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949440" y="4151376"/>
            <a:ext cx="3886200" cy="768096"/>
          </a:xfrm>
          <a:prstGeom prst="rect">
            <a:avLst/>
          </a:prstGeom>
          <a:solidFill>
            <a:srgbClr val="F5F8FB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031736" y="4279392"/>
            <a:ext cx="3721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437"/>
                </a:solidFill>
              </a:rPr>
              <a:t>Lets the user focus on the relevant population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4919472"/>
            <a:ext cx="1965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22376" y="5047488"/>
            <a:ext cx="1801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Decision workflow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606040" y="4919472"/>
            <a:ext cx="43434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688336" y="5047488"/>
            <a:ext cx="4178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437"/>
                </a:solidFill>
              </a:rPr>
              <a:t>Summary → compare → drill down → report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949440" y="4919472"/>
            <a:ext cx="38862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031736" y="5047488"/>
            <a:ext cx="3721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437"/>
                </a:solidFill>
              </a:rPr>
              <a:t>Connects observation to explanation and communication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0080" y="5824728"/>
            <a:ext cx="10716768" cy="411480"/>
          </a:xfrm>
          <a:prstGeom prst="roundRect">
            <a:avLst>
              <a:gd name="adj" fmla="val 31111"/>
            </a:avLst>
          </a:prstGeom>
          <a:solidFill>
            <a:srgbClr val="FFF7E8"/>
          </a:solidFill>
          <a:ln w="12700">
            <a:solidFill>
              <a:srgbClr val="F5D5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50392" y="5943600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5A17"/>
                </a:solidFill>
              </a:rPr>
              <a:t>Publication integrity note: no fabricated accuracy, latency or user-study values are shown here. Those measurements should be added after controlled testing.</a:t>
            </a:r>
            <a:endParaRPr lang="en-US" sz="95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Results Analysis – Quality, Performance &amp; Reliability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084"/>
                </a:solidFill>
              </a:rPr>
              <a:t>Review-2 should show not only what works, but how the implementation will be judged for quality.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2011680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Evaluation area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78608" y="1353312"/>
            <a:ext cx="3657600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51760" y="1463040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is analyzed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36208" y="1353312"/>
            <a:ext cx="4526280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09360" y="1463040"/>
            <a:ext cx="4379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Evidence to capture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1783080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892808"/>
            <a:ext cx="18653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0B1F3A"/>
                </a:solidFill>
              </a:rPr>
              <a:t>Functional correctness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578608" y="1783080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0" y="1892808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82437"/>
                </a:solidFill>
              </a:rPr>
              <a:t>Filters, sorting, drill-down, export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6236208" y="1783080"/>
            <a:ext cx="4526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1892808"/>
            <a:ext cx="43799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82437"/>
                </a:solidFill>
              </a:rPr>
              <a:t>Scenario tests + expected/actual comparison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66928" y="2441448"/>
            <a:ext cx="20116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2551176"/>
            <a:ext cx="18653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0B1F3A"/>
                </a:solidFill>
              </a:rPr>
              <a:t>Data integrity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2578608" y="2441448"/>
            <a:ext cx="36576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51760" y="2551176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82437"/>
                </a:solidFill>
              </a:rPr>
              <a:t>Completeness, duplicates, reconciliation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6236208" y="2441448"/>
            <a:ext cx="45262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09360" y="2551176"/>
            <a:ext cx="43799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82437"/>
                </a:solidFill>
              </a:rPr>
              <a:t>Independent reference calculation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566928" y="3099816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209544"/>
            <a:ext cx="18653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0B1F3A"/>
                </a:solidFill>
              </a:rPr>
              <a:t>Web performance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2578608" y="3099816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651760" y="3209544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82437"/>
                </a:solidFill>
              </a:rPr>
              <a:t>LCP / INP / CLS + API latency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6236208" y="3099816"/>
            <a:ext cx="4526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09360" y="3209544"/>
            <a:ext cx="43799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82437"/>
                </a:solidFill>
              </a:rPr>
              <a:t>Controlled desktop + mobile runs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566928" y="3758184"/>
            <a:ext cx="20116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3867912"/>
            <a:ext cx="18653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0B1F3A"/>
                </a:solidFill>
              </a:rPr>
              <a:t>Usability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2578608" y="3758184"/>
            <a:ext cx="36576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651760" y="3867912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82437"/>
                </a:solidFill>
              </a:rPr>
              <a:t>Task success, time, perceived ease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6236208" y="3758184"/>
            <a:ext cx="45262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09360" y="3867912"/>
            <a:ext cx="43799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82437"/>
                </a:solidFill>
              </a:rPr>
              <a:t>Representative users + SUS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566928" y="4416552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" y="4526280"/>
            <a:ext cx="18653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0B1F3A"/>
                </a:solidFill>
              </a:rPr>
              <a:t>Accessibility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2578608" y="4416552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651760" y="4526280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82437"/>
                </a:solidFill>
              </a:rPr>
              <a:t>Keyboard, focus, semantics, contrast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6236208" y="4416552"/>
            <a:ext cx="4526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09360" y="4526280"/>
            <a:ext cx="43799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82437"/>
                </a:solidFill>
              </a:rPr>
              <a:t>Automated + manual WCAG review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566928" y="5074920"/>
            <a:ext cx="20116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0080" y="5184648"/>
            <a:ext cx="18653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0B1F3A"/>
                </a:solidFill>
              </a:rPr>
              <a:t>Security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2578608" y="5074920"/>
            <a:ext cx="36576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651760" y="5184648"/>
            <a:ext cx="3511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82437"/>
                </a:solidFill>
              </a:rPr>
              <a:t>Auth, access control, validation, data exposure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6236208" y="5074920"/>
            <a:ext cx="45262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309360" y="5184648"/>
            <a:ext cx="43799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82437"/>
                </a:solidFill>
              </a:rPr>
              <a:t>Endpoint and configuration tests</a:t>
            </a:r>
            <a:endParaRPr lang="en-US" sz="960" dirty="0"/>
          </a:p>
        </p:txBody>
      </p:sp>
      <p:sp>
        <p:nvSpPr>
          <p:cNvPr id="46" name="Shape 44"/>
          <p:cNvSpPr/>
          <p:nvPr/>
        </p:nvSpPr>
        <p:spPr>
          <a:xfrm>
            <a:off x="566928" y="5852160"/>
            <a:ext cx="10954512" cy="402336"/>
          </a:xfrm>
          <a:prstGeom prst="roundRect">
            <a:avLst>
              <a:gd name="adj" fmla="val 31818"/>
            </a:avLst>
          </a:prstGeom>
          <a:solidFill>
            <a:srgbClr val="EEF8F6"/>
          </a:solidFill>
          <a:ln w="12700">
            <a:solidFill>
              <a:srgbClr val="B8DF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77240" y="5961888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23594E"/>
                </a:solidFill>
              </a:rPr>
              <a:t>Analysis message: performance should be measured, not assumed. When a bottleneck is found, optimize data transfer, rendering and repeated calculations before adding more visual complexity.</a:t>
            </a:r>
            <a:endParaRPr lang="en-US" sz="93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Findings, Novelty &amp; Research Upgrade</a:t>
            </a:r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084"/>
                </a:solidFill>
              </a:rPr>
              <a:t>The Review-2 discussion should show that the team understands what is complete and what still needs engineering evidence.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426651"/>
            <a:ext cx="5074920" cy="43891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144768" y="1417320"/>
            <a:ext cx="5074920" cy="43891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68680" y="1755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</a:rPr>
              <a:t>CURRENT STRENGTHS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212848"/>
            <a:ext cx="434340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82437"/>
                </a:solidFill>
              </a:rPr>
              <a:t>Unified BI interface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82437"/>
                </a:solidFill>
              </a:rPr>
              <a:t>Interactive analytical flow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82437"/>
                </a:solidFill>
              </a:rPr>
              <a:t>Clear KPI-to-analysis concept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82437"/>
                </a:solidFill>
              </a:rPr>
              <a:t>Live deployment for demonstration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5230368"/>
            <a:ext cx="2377440" cy="256032"/>
          </a:xfrm>
          <a:prstGeom prst="roundRect">
            <a:avLst>
              <a:gd name="adj" fmla="val 28571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23544" y="526237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IMPLEMENTED / DEMONSTRABLE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19088" y="1755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</a:rPr>
              <a:t>NEXT ENGINEERING STEPS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19088" y="2212848"/>
            <a:ext cx="434340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82437"/>
                </a:solidFill>
              </a:rPr>
              <a:t>Instrument performance metrics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82437"/>
                </a:solidFill>
              </a:rPr>
              <a:t>Validate every KPI against reference calculations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82437"/>
                </a:solidFill>
              </a:rPr>
              <a:t>Add stronger drill-down / anomaly explanation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82437"/>
                </a:solidFill>
              </a:rPr>
              <a:t>Complete accessibility and security testing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82437"/>
                </a:solidFill>
              </a:rPr>
              <a:t>Collect user-study evidence if publication is required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19088" y="5230368"/>
            <a:ext cx="1600200" cy="256032"/>
          </a:xfrm>
          <a:prstGeom prst="roundRect">
            <a:avLst>
              <a:gd name="adj" fmla="val 28571"/>
            </a:avLst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73952" y="5262372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NEXT ITERATION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85800" y="59893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27084"/>
                </a:solidFill>
              </a:rPr>
              <a:t>Why this matters for Review-2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0" y="5952744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82437"/>
                </a:solidFill>
              </a:rPr>
              <a:t>A strong review explicitly connects implementation → observed output → analysis → improvement plan.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Conclusion – Research-Grade Takeaway</a:t>
            </a:r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084"/>
                </a:solidFill>
              </a:rPr>
              <a:t>Close the review by showing the evaluator the complete story of the implemented artifact.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21792" y="1353312"/>
            <a:ext cx="6537960" cy="4480560"/>
          </a:xfrm>
          <a:prstGeom prst="roundRect">
            <a:avLst>
              <a:gd name="adj" fmla="val 285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0120" y="17373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we have demonstrated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5486400" cy="2423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EAF2FA"/>
                </a:solidFill>
              </a:rPr>
              <a:t>A deployable BI dashboard that converts organizational data into visual analytics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EAF2FA"/>
                </a:solidFill>
              </a:rPr>
              <a:t>A structured execution flow from KPI monitoring to comparison and detailed analysis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EAF2FA"/>
                </a:solidFill>
              </a:rPr>
              <a:t>A clear framework for validating correctness, performance, usability and accessibility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EAF2FA"/>
                </a:solidFill>
              </a:rPr>
              <a:t>A measurable roadmap for improving the artifact beyond the current review stage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50109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C7D6"/>
                </a:solidFill>
              </a:rPr>
              <a:t>Live demo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74520" y="497433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Open the deployed dashboard during Q&amp;A / evaluator interaction.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0" y="1353312"/>
            <a:ext cx="4069080" cy="4480560"/>
          </a:xfrm>
          <a:prstGeom prst="roundRect">
            <a:avLst>
              <a:gd name="adj" fmla="val 314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818120" y="17373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</a:rPr>
              <a:t>3-part Review-2 story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836408" y="2331720"/>
            <a:ext cx="566928" cy="56692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836408" y="249631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77072" y="2350008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IMPLEMENT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77072" y="264261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84"/>
                </a:solidFill>
              </a:rPr>
              <a:t>System built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36408" y="3246120"/>
            <a:ext cx="566928" cy="56692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836408" y="341071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77072" y="3264408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EXECUTE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77072" y="355701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84"/>
                </a:solidFill>
              </a:rPr>
              <a:t>System works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36408" y="4160520"/>
            <a:ext cx="566928" cy="566928"/>
          </a:xfrm>
          <a:prstGeom prst="ellipse">
            <a:avLst/>
          </a:prstGeom>
          <a:solidFill>
            <a:srgbClr val="7357B8"/>
          </a:solidFill>
          <a:ln w="12700">
            <a:solidFill>
              <a:srgbClr val="7357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836408" y="432511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77072" y="4178808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ANALYZE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77072" y="447141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84"/>
                </a:solidFill>
              </a:rPr>
              <a:t>Results understood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909560" y="5074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A3B1"/>
                </a:solidFill>
              </a:rPr>
              <a:t>Thank You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065008" y="5541264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27084"/>
                </a:solidFill>
              </a:rPr>
              <a:t>Questions &amp; demonstration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270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Research Gap &amp; Mandatory 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The project is upgraded from a dashboard artifact to a testable hybrid decision-intelligence research artifact.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356616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527048"/>
            <a:ext cx="3209544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WHAT EXISTS IN THE CURRENT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56232"/>
            <a:ext cx="3209544" cy="3035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Executive BI</a:t>
            </a:r>
            <a:br/>
            <a:r>
              <a:t>Sales &amp; Revenue</a:t>
            </a:r>
            <a:br/>
            <a:r>
              <a:t>Finance &amp; Cash Flow</a:t>
            </a:r>
            <a:br/>
            <a:r>
              <a:t>Marketing / HR / Operations</a:t>
            </a:r>
            <a:br/>
            <a:r>
              <a:t>RFM &amp; Analytics</a:t>
            </a:r>
            <a:br/>
            <a:r>
              <a:t>Data Quality / ETL</a:t>
            </a:r>
            <a:br/>
            <a:r>
              <a:t>Automated Business Insights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356616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98848" y="1527048"/>
            <a:ext cx="3209544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WHY THAT IS NOT ENOUGH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856232"/>
            <a:ext cx="3209544" cy="3035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A dashboard alone is not novelty.</a:t>
            </a:r>
            <a:br/>
            <a:br/>
            <a:r>
              <a:t>Multiple datasets alone are not novelty.</a:t>
            </a:r>
            <a:br/>
            <a:br/>
            <a:r>
              <a:t>Individual ML models alone are not novelty.</a:t>
            </a:r>
            <a:br/>
            <a:br/>
            <a:r>
              <a:t>The research needs a new computational step.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429000" cy="356616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1527048"/>
            <a:ext cx="3209544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PROPOSED RESEARCH 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856232"/>
            <a:ext cx="3209544" cy="3035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Hybrid Evidence-Weighted Decision Fusion (HEWDF)</a:t>
            </a:r>
            <a:br/>
            <a:br/>
            <a:r>
              <a:t>Fuse predictive evidence + anomaly evidence + KPI deviation + cross-functional propagation + data/model reliability into an auditable decision-priority score.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331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Detailed Methodology &amp; Research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The methodology separates observation, prediction, diagnosis, prioritization, and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24612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35607"/>
            <a:ext cx="30266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1. Data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764792"/>
            <a:ext cx="3026663" cy="1252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CSV / DB / API records are validated and profiled.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24612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435607"/>
            <a:ext cx="30266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2. Data reliability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764792"/>
            <a:ext cx="3026663" cy="1252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Completeness, validity, duplicates, consistency and outlier indicators produce reliability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325880"/>
            <a:ext cx="324612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93607" y="1435607"/>
            <a:ext cx="30266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3. Analytical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7" y="1764792"/>
            <a:ext cx="3026663" cy="1252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The system selects supported descriptive, predictive and anomaly analyses from data characteristics.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66160"/>
            <a:ext cx="324612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3675888"/>
            <a:ext cx="30266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4. Cross-functional fusion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005072"/>
            <a:ext cx="3026663" cy="1252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Linked KPIs across sales, finance, marketing, HR and operations form propagation evidence.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566160"/>
            <a:ext cx="324612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44568" y="3675888"/>
            <a:ext cx="30266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</a:defRPr>
            </a:pPr>
            <a:r>
              <a:t>5. HEWDF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4005072"/>
            <a:ext cx="3026663" cy="1252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Evidence is normalized, reliability-adjusted and fused into a decision-priority score.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3566160"/>
            <a:ext cx="3246120" cy="178308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93607" y="3675888"/>
            <a:ext cx="30266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</a:defRPr>
            </a:pPr>
            <a:r>
              <a:t>6. Traceable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4005072"/>
            <a:ext cx="3026663" cy="12527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The system exposes the evidence chain and decision simulation rather than a black-box recommendation.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Hybrid Evidence-Weighted Decision Fusion (HEWDF)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Proposed mathematical formulation for the novel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241280" cy="685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Hᵢ = Σₖ wᵢₖ Eᵢₖ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10058400" cy="5486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2200" b="1">
                <a:solidFill>
                  <a:srgbClr val="142034"/>
                </a:solidFill>
              </a:defRPr>
            </a:pPr>
            <a:r>
              <a:t>Eᵢ = [Pᵢ, Aᵢ, Dᵢ, Cᵢ, Qᵢ]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54680"/>
            <a:ext cx="2103120" cy="192024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3264408"/>
            <a:ext cx="18836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Pᵢ — Predictive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593592"/>
            <a:ext cx="1883663" cy="13898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Forecast residual / expected-value deviation.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3154680"/>
            <a:ext cx="2103120" cy="192024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81528" y="3264408"/>
            <a:ext cx="18836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Aᵢ — Anomaly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3593592"/>
            <a:ext cx="1883663" cy="13898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Statistical or ML anomaly severity.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154680"/>
            <a:ext cx="2103120" cy="192024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13248" y="3264408"/>
            <a:ext cx="18836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Dᵢ — KPI deviation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3248" y="3593592"/>
            <a:ext cx="1883663" cy="13898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Distance from target/baseline.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3154680"/>
            <a:ext cx="2103120" cy="192024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44967" y="3264408"/>
            <a:ext cx="18836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Cᵢ — Propagation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4967" y="3593592"/>
            <a:ext cx="1883663" cy="13898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Cross-functional dependency evidence.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60" y="3154680"/>
            <a:ext cx="1600200" cy="192024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76688" y="3264408"/>
            <a:ext cx="1380744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</a:defRPr>
            </a:pPr>
            <a:r>
              <a:t>Qᵢ — Reliability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76688" y="3593592"/>
            <a:ext cx="1380744" cy="13898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Data/model reliability adjustment.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440680"/>
            <a:ext cx="1042416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0">
                <a:solidFill>
                  <a:srgbClr val="5F6E82"/>
                </a:solidFill>
              </a:defRPr>
            </a:pPr>
            <a:r>
              <a:t>Weights are adaptive rather than fixed: evidence reliability and information content determine how strongly each evidence stream contributes.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Results — Graphical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Graphs are computed from the observed dashboard outputs, not fabricated benchmark values.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23</a:t>
            </a:r>
          </a:p>
        </p:txBody>
      </p:sp>
      <p:pic>
        <p:nvPicPr>
          <p:cNvPr id="6" name="Picture 5" descr="financial_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5440680" cy="2952258"/>
          </a:xfrm>
          <a:prstGeom prst="rect">
            <a:avLst/>
          </a:prstGeom>
        </p:spPr>
      </p:pic>
      <p:pic>
        <p:nvPicPr>
          <p:cNvPr id="7" name="Picture 6" descr="percentage_kp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43000"/>
            <a:ext cx="5440680" cy="29522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577840"/>
            <a:ext cx="1060704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000" b="0">
                <a:solidFill>
                  <a:srgbClr val="5F6E82"/>
                </a:solidFill>
              </a:defRPr>
            </a:pPr>
            <a:r>
              <a:t>Financial scale: revenue is the largest observed aggregate; net profit and cash flow provide profitability/liquidity context. Percentage view: growth and quota attainment are separated from margin to preserve interpretability.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Results — Business Insight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The automated-insights screen links findings to evidence, impact and recommended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24</a:t>
            </a:r>
          </a:p>
        </p:txBody>
      </p:sp>
      <p:pic>
        <p:nvPicPr>
          <p:cNvPr id="6" name="Picture 5" descr="ca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5212080" cy="282821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143000"/>
            <a:ext cx="5623560" cy="25930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623560"/>
            <a:ext cx="10607040" cy="4389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000" b="0">
                <a:solidFill>
                  <a:srgbClr val="5F6E82"/>
                </a:solidFill>
              </a:defRPr>
            </a:pPr>
            <a:r>
              <a:t>Interpretation: Events &amp; Webinars is shown with ₹26.26 CAC versus ₹302.00 for Partner Referrals. The screenshot also demonstrates the existing four-part insight structure: context → evidence → impact → 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Frontend Output Screenshots — Research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The dashboard screenshots are part of the results section because the deployed frontend is the research artifact.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25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5486400" cy="214884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88720"/>
            <a:ext cx="5440680" cy="214884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566160"/>
            <a:ext cx="5486400" cy="214884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566160"/>
            <a:ext cx="5440680" cy="2148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Novelty Positioning — What Is Actually New?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The claim is framed as a proposed system-level contribution, not as an unsupported “first ever” statement.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201397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Research direction</a:t>
                      </a:r>
                    </a:p>
                  </a:txBody>
                  <a:tcPr>
                    <a:solidFill>
                      <a:srgbClr val="1137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Established capability</a:t>
                      </a:r>
                    </a:p>
                  </a:txBody>
                  <a:tcPr>
                    <a:solidFill>
                      <a:srgbClr val="1137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Proposed project contribution</a:t>
                      </a:r>
                    </a:p>
                  </a:txBody>
                  <a:tcPr>
                    <a:solidFill>
                      <a:srgbClr val="11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Adaptive 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Adaptive algorithms / feedback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Reliability-adjusted evidence routing inside organizational KPI decision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Cross-department BI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Cross-functional visualization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Cross-KPI propagation becomes an explicit decision-priority evidence stream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Hybrid ML–MCDM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Predictive + multi-criteria decision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BI-specific fusion of prediction + anomaly + KPI + propagation + reliability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Anomaly ensembles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Multiple anomaly models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Anomaly output becomes one component of a broader auditable decision score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Decision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Dashboards / recommendations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42034"/>
                          </a:solidFill>
                        </a:defRPr>
                      </a:pPr>
                      <a:r>
                        <a:t>Evidence lineage from source metric to fused priority and 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715000"/>
            <a:ext cx="1078992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000" b="1">
                <a:solidFill>
                  <a:srgbClr val="B45028"/>
                </a:solidFill>
              </a:defRPr>
            </a:pPr>
            <a:r>
              <a:t>Important: a systematic literature review is still required before claiming that no equivalent combination exists in any prior paper.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Experimental Evaluation &amp;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The novelty must be demonstrated experimentally rather than asserted.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17320"/>
          <a:ext cx="106984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Experiment</a:t>
                      </a:r>
                    </a:p>
                  </a:txBody>
                  <a:tcPr>
                    <a:solidFill>
                      <a:srgbClr val="1137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137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Primary performance metrics</a:t>
                      </a:r>
                    </a:p>
                  </a:txBody>
                  <a:tcPr>
                    <a:solidFill>
                      <a:srgbClr val="11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Dashboard/rule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Top-k priority precision;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Single predictive/anomaly model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MAE/RMSE/MAPE or Precision/Recall/F1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Fixed-weight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Ranking quality; false-priority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Proposed HEWDF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Ranking quality; evidence completeness; latency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A1–A5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Remove one HEWDF evidence stream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034"/>
                          </a:solidFill>
                        </a:defRPr>
                      </a:pPr>
                      <a:r>
                        <a:t>Change in ranking quality and false-priority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166360"/>
            <a:ext cx="10332720" cy="685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100" b="1">
                <a:solidFill>
                  <a:srgbClr val="142034"/>
                </a:solidFill>
              </a:defRPr>
            </a:pPr>
            <a:r>
              <a:t>Publication rule: if no labeled ground truth or controlled decision study exists, do not invent accuracy values. Use a reproducible synthetic benchmark or expert-validated task 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Research Paper Mapping — Mandatory Evidence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Every included table, graph and screenshot is explained in the paper's Results section.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429000" cy="393192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481328"/>
            <a:ext cx="3209544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10512"/>
            <a:ext cx="3209544" cy="34015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Table 5 — observed KPI results</a:t>
            </a:r>
            <a:br/>
            <a:r>
              <a:t>Table 6 — internal consistency checks</a:t>
            </a:r>
            <a:br/>
            <a:r>
              <a:t>Table 7 — evidence boundary</a:t>
            </a:r>
            <a:br/>
            <a:r>
              <a:t>Table 8 — novelty positioning</a:t>
            </a:r>
            <a:br/>
            <a:r>
              <a:t>Table 9 — hybrid-model evaluation 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29000" cy="393192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98848" y="1481328"/>
            <a:ext cx="3209544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GRAPHS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810512"/>
            <a:ext cx="3209544" cy="34015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Fig. 5 — financial performance</a:t>
            </a:r>
            <a:br/>
            <a:r>
              <a:t>Fig. 6 — percentage KPIs</a:t>
            </a:r>
            <a:br/>
            <a:r>
              <a:t>Fig. 7 — CAC comparison</a:t>
            </a:r>
            <a:br/>
            <a:r>
              <a:t>Each graph has a results interpretation paragraph.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429000" cy="393192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1481328"/>
            <a:ext cx="3209544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FRONTEND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810512"/>
            <a:ext cx="3209544" cy="34015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Fig. 8 — Executive BI</a:t>
            </a:r>
            <a:br/>
            <a:r>
              <a:t>Fig. 9 — Sales</a:t>
            </a:r>
            <a:br/>
            <a:r>
              <a:t>Fig. 10 — Finance</a:t>
            </a:r>
            <a:br/>
            <a:r>
              <a:t>Fig. 11 — Business Insights</a:t>
            </a:r>
            <a:br/>
            <a:r>
              <a:t>Each screenshot is explained as research evidence.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Research Upgrade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034"/>
                </a:solidFill>
              </a:defRPr>
            </a:pPr>
            <a:r>
              <a:t>Final Research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82"/>
                </a:solidFill>
              </a:defRPr>
            </a:pPr>
            <a:r>
              <a:t>The project now has a clear chain from implementation to measurable research contribution.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E82"/>
                </a:solidFill>
              </a:defRPr>
            </a:pPr>
            <a: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5486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REAL DATA  →  ETL  →  BI  →  ML / ANOMALY  →  HEWDF  →  TRACEABLE DECISION PRIORITY  →  BUSINESS INSIGHT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31720"/>
            <a:ext cx="3017520" cy="205740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441448"/>
            <a:ext cx="27980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770632"/>
            <a:ext cx="2798063" cy="1527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Working enterprise BI artifact</a:t>
            </a:r>
            <a:br/>
            <a:r>
              <a:t>Multiple functional dashboards</a:t>
            </a:r>
            <a:br/>
            <a:r>
              <a:t>ETL / data quality / 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331720"/>
            <a:ext cx="3017520" cy="205740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2441448"/>
            <a:ext cx="27980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NOVELTY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770632"/>
            <a:ext cx="2798063" cy="1527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Hybrid Evidence-Weighted Decision Fusion</a:t>
            </a:r>
            <a:br/>
            <a:r>
              <a:t>Adaptive reliability weighting</a:t>
            </a:r>
            <a:br/>
            <a:r>
              <a:t>Cross-functional propagation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331720"/>
            <a:ext cx="3017520" cy="205740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9327" y="2441448"/>
            <a:ext cx="2798063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2770632"/>
            <a:ext cx="2798063" cy="1527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142034"/>
                </a:solidFill>
              </a:defRPr>
            </a:pPr>
            <a:r>
              <a:t>Observed KPI results</a:t>
            </a:r>
            <a:br/>
            <a:r>
              <a:t>Graphs</a:t>
            </a:r>
            <a:br/>
            <a:r>
              <a:t>Frontend screenshots</a:t>
            </a:r>
            <a:br/>
            <a:r>
              <a:t>Controlled evaluation + ablation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92040"/>
            <a:ext cx="1024128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1">
                <a:solidFill>
                  <a:srgbClr val="142034"/>
                </a:solidFill>
              </a:defRPr>
            </a:pPr>
            <a:r>
              <a:t>Next mandatory step: implement HEWDF in the live project, run the baseline/ablation experiments, and replace the current “not yet measured” cells with actual model-performance and web-performance results.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236208"/>
            <a:ext cx="98755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900" b="0">
                <a:solidFill>
                  <a:srgbClr val="5F6E82"/>
                </a:solidFill>
              </a:defRPr>
            </a:pPr>
            <a:r>
              <a:t>DAV • Enterprise BI • Research-grade revision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3005</Words>
  <Application>Microsoft Office PowerPoint</Application>
  <PresentationFormat>Widescreen</PresentationFormat>
  <Paragraphs>530</Paragraphs>
  <Slides>30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KLH Hyderabad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BI Dashboard - Project Review 2</dc:title>
  <dc:subject>Data Analytics and Visualization Project - Review 2</dc:subject>
  <dc:creator>Yennam Sesank Reddy</dc:creator>
  <cp:lastModifiedBy>sesank yennam</cp:lastModifiedBy>
  <cp:revision>4</cp:revision>
  <dcterms:created xsi:type="dcterms:W3CDTF">2026-09-16T09:42:49Z</dcterms:created>
  <dcterms:modified xsi:type="dcterms:W3CDTF">2026-10-14T05:07:46Z</dcterms:modified>
</cp:coreProperties>
</file>